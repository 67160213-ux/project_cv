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arabun Bold" charset="1" panose="00000800000000000000"/>
      <p:regular r:id="rId24"/>
    </p:embeddedFont>
    <p:embeddedFont>
      <p:font typeface="Sarabun" charset="1" panose="00000500000000000000"/>
      <p:regular r:id="rId25"/>
    </p:embeddedFont>
    <p:embeddedFont>
      <p:font typeface="Prompt Bold" charset="1" panose="000008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แนะนำโครงงาน: ระบบตรวจกระดาษคำตอบแบบเขียนตอบภาษาอังกฤษ ใช้ Computer Vision และ Machine Learning อ่านตัวอักษรพิมพ์ใหญ่ A–Z และช่องว่างจากภาพถ่ายกระดาษคำตอบ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ปัญหา: ตรวจด้วยคนช้าและพลาดง่าย OMR มีต้นทุนสูง จึงเสนอ CV + ML ที่ใช้ภาพจากสมาร์ตโฟน เพื่อลดภาระผู้สอนและเปิดโอกาสให้โรงเรียนงบน้อย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ขอบเขตด้านข้อมูลนำเข้าและเงื่อนไขการใช้งาน: ตาราง 20×20 = 400 ช่อง ตัวอักษร A–Z และช่องว่างรวม 27 คลาส รองรับปากกาและดินสอไส้บาง ช่องที่ความมั่นใจต่ำส่งให้มนุษย์ตรวจทาน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ข้อมูลฝึกสอน 78 ภาพ + EMNIST/Kaggle A–Z รวม 52,201 ช่อง และขยายด้วย Data Augmentation กว่า 420,000 รูปแบบ ชุดทดสอบจริง 9 แผ่น 3,600 ช่อง ข้อจำกัดที่อยู่นอกขอบเขตแสดงทางขวา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อ่านตามลูกศร: แถวบนคือการประมวลผลภาพ (1–4) ลงมาแถวล่างจากขวาไปซ้ายคือโมเดล AI และการแก้ผล (5–8) ขั้นสุดท้ายแสดงตามตัวอักษรที่เขียนจริง ไม่ปรับแต่งคำด้วย NLP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ขั้นที่ 1–4 เตรียมภาพก่อนเข้าโมเดล: ปรับระนาบด้วย Homography, แบ่งตารางด้วย Vertical Projection Profiling, คัดช่องว่างด้วยเกณฑ์ std &lt; 7.0 หรือ diff &lt; 35, จัดตัวอักษรให้อยู่กึ่งกลางด้วย Image Moments แล้วสกัดคุณลักษณะ 1,176 มิติ (784 + 392)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โมเดล 3 แบบ ผลรวม 9 แผ่น 3,600 ช่อง: MLP 93.94%, CNN 93.67%, Super-Ensemble 94.03% (ถ่วงน้ำหนัก MLP 30% + CNN 70%) กฎโครงสร้างช่วยแยกคู่ตัวอักษรที่สับสนบ่อย ตัวเลขเกณฑ์เป็นค่าตามเอกสารต้นฉบับ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ผลรวม 9 แผ่น 3,600 ช่อง: MLP 3,382 (93.94%), CNN 3,372 (93.67%), Super-Ensemble 3,385 (94.03%) กราฟขวาเป็นตัวอย่างหนึ่งแผ่น (test2.jpg) ไม่ใช่ค่ารวม: MLP 323/400 = 80.75%, CNN 328/400 = 82.00%, Super-Ensemble 334/400 = 83.50% (ตารางต้นฉบับหน้า 14 ระบุ 83.50% ส่วนหน้า 15 และ 20 พิมพ์เป็น 83.45% ซึ่งไม่ตรงกับ 334/400 และส่วนต่าง +2.75) ประมวลผล 56 วินาที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ผลรวม 9 แผ่น 3,600 ช่อง: MLP 3,382 (93.94%), CNN 3,372 (93.67%), Super-Ensemble 3,385 (94.03%) กราฟขวาเป็นตัวอย่างหนึ่งแผ่น (test2.jpg) ไม่ใช่ค่ารวม: MLP 323/400 = 80.75%, CNN 328/400 = 82.00%, Super-Ensemble 334/400 = 83.50% (ตารางต้นฉบับหน้า 14 ระบุ 83.50% ส่วนหน้า 15 และ 20 พิมพ์เป็น 83.45% ซึ่งไม่ตรงกับ 334/400 และส่วนต่าง +2.75) ประมวลผล 56 วินาที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ผลรวม 9 แผ่น 3,600 ช่อง: MLP 3,382 (93.94%), CNN 3,372 (93.67%), Super-Ensemble 3,385 (94.03%) กราฟขวาเป็นตัวอย่างหนึ่งแผ่น (test2.jpg) ไม่ใช่ค่ารวม: MLP 323/400 = 80.75%, CNN 328/400 = 82.00%, Super-Ensemble 334/400 = 83.50% (ตารางต้นฉบับหน้า 14 ระบุ 83.50% ส่วนหน้า 15 และ 20 พิมพ์เป็น 83.45% ซึ่งไม่ตรงกับ 334/400 และส่วนต่าง +2.75) ประมวลผล 56 วินาที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โมเดล 3 แบบ ผลรวม 9 แผ่น 3,600 ช่อง: MLP 93.94%, CNN 93.67%, Super-Ensemble 94.03% (ถ่วงน้ำหนัก MLP 30% + CNN 70%) กฎโครงสร้างช่วยแยกคู่ตัวอักษรที่สับสนบ่อย ตัวเลขเกณฑ์เป็นค่าตามเอกสารต้นฉบับ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ประโยชน์: ลดเวลา ใช้สมาร์ตโฟน ส่งออกรายงานพร้อมใช้ และตรวจย้อนกลับด้วย Confidence ข้อจำกัด: ลายมือดินสอเส้นจางยังแม่นยำน้อยกว่า และ Super-Ensemble ไม่ดีกว่าทุกแผ่น แนวทางต่อยอด: เพิ่มข้อมูลฝึกและ Data Augmentation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สรุป: ระบบครอบคลุมตั้งแต่รับภาพจนส่งออกรายงาน ความแม่นยำรวม 94.03% จาก 3,600 ช่อง ต้องเพิ่มความแข็งแรงต่อรูปแบบลายมือและตรวจทานช่องความมั่นใจต่ำ งานวิจัยที่เกี่ยวข้อง 4 ชิ้นตามเอกสาร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https://www.mdpi.com/2076-3417/9/15/3169" TargetMode="External" Type="http://schemas.openxmlformats.org/officeDocument/2006/relationships/hyperlink"/><Relationship Id="rId5" Target="https://arxiv.org/abs/1702.05373" TargetMode="External" Type="http://schemas.openxmlformats.org/officeDocument/2006/relationships/hyperlink"/><Relationship Id="rId6" Target="https://arxiv.org/abs/1708.02002" TargetMode="External" Type="http://schemas.openxmlformats.org/officeDocument/2006/relationships/hyperlink"/><Relationship Id="rId7" Target="https://ieeexplore.ieee.org/document/9591132" TargetMode="External" Type="http://schemas.openxmlformats.org/officeDocument/2006/relationships/hyperlink"/><Relationship Id="rId8" Target="https://ieeexplore.ieee.org/document/9591132" TargetMode="External" Type="http://schemas.openxmlformats.org/officeDocument/2006/relationships/hyperlink"/><Relationship Id="rId9" Target="https://ieeexplore.ieee.org/document/9591132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7543800"/>
            <a:ext cx="2743200" cy="685800"/>
            <a:chOff x="0" y="0"/>
            <a:chExt cx="36576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3200400" y="0"/>
                  </a:lnTo>
                  <a:cubicBezTo>
                    <a:pt x="3452876" y="0"/>
                    <a:pt x="3657600" y="204724"/>
                    <a:pt x="3657600" y="457200"/>
                  </a:cubicBezTo>
                  <a:cubicBezTo>
                    <a:pt x="3657600" y="709676"/>
                    <a:pt x="3452876" y="914400"/>
                    <a:pt x="320040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7543800"/>
            <a:ext cx="2743200" cy="685800"/>
            <a:chOff x="0" y="0"/>
            <a:chExt cx="36576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Computer Vision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14800" y="7543800"/>
            <a:ext cx="3017520" cy="685800"/>
            <a:chOff x="0" y="0"/>
            <a:chExt cx="402336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3566160" y="0"/>
                  </a:lnTo>
                  <a:cubicBezTo>
                    <a:pt x="3818636" y="0"/>
                    <a:pt x="4023360" y="204724"/>
                    <a:pt x="4023360" y="457200"/>
                  </a:cubicBezTo>
                  <a:cubicBezTo>
                    <a:pt x="4023360" y="709676"/>
                    <a:pt x="3818636" y="914400"/>
                    <a:pt x="356616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14800" y="7543800"/>
            <a:ext cx="3017520" cy="685800"/>
            <a:chOff x="0" y="0"/>
            <a:chExt cx="402336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0233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Machine Learning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06640" y="7543800"/>
            <a:ext cx="3017520" cy="685800"/>
            <a:chOff x="0" y="0"/>
            <a:chExt cx="402336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3566160" y="0"/>
                  </a:lnTo>
                  <a:cubicBezTo>
                    <a:pt x="3818636" y="0"/>
                    <a:pt x="4023360" y="204724"/>
                    <a:pt x="4023360" y="457200"/>
                  </a:cubicBezTo>
                  <a:cubicBezTo>
                    <a:pt x="4023360" y="709676"/>
                    <a:pt x="3818636" y="914400"/>
                    <a:pt x="356616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06640" y="7543800"/>
            <a:ext cx="3017520" cy="685800"/>
            <a:chOff x="0" y="0"/>
            <a:chExt cx="402336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0233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รู้จำลายมือ A–Z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27180" y="891540"/>
            <a:ext cx="5760720" cy="7741920"/>
            <a:chOff x="0" y="0"/>
            <a:chExt cx="7680960" cy="10322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0960" cy="10322560"/>
            </a:xfrm>
            <a:custGeom>
              <a:avLst/>
              <a:gdLst/>
              <a:ahLst/>
              <a:cxnLst/>
              <a:rect r="r" b="b" t="t" l="l"/>
              <a:pathLst>
                <a:path h="10322560" w="7680960">
                  <a:moveTo>
                    <a:pt x="0" y="249739"/>
                  </a:moveTo>
                  <a:cubicBezTo>
                    <a:pt x="0" y="111805"/>
                    <a:pt x="122809" y="0"/>
                    <a:pt x="274320" y="0"/>
                  </a:cubicBezTo>
                  <a:lnTo>
                    <a:pt x="7406640" y="0"/>
                  </a:lnTo>
                  <a:cubicBezTo>
                    <a:pt x="7558151" y="0"/>
                    <a:pt x="7680960" y="111805"/>
                    <a:pt x="7680960" y="249739"/>
                  </a:cubicBezTo>
                  <a:lnTo>
                    <a:pt x="7680960" y="10072821"/>
                  </a:lnTo>
                  <a:cubicBezTo>
                    <a:pt x="7680960" y="10210756"/>
                    <a:pt x="7558151" y="10322560"/>
                    <a:pt x="7406640" y="10322560"/>
                  </a:cubicBezTo>
                  <a:lnTo>
                    <a:pt x="274320" y="10322560"/>
                  </a:lnTo>
                  <a:cubicBezTo>
                    <a:pt x="122809" y="10322560"/>
                    <a:pt x="0" y="10210756"/>
                    <a:pt x="0" y="10072821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01500" y="1165860"/>
            <a:ext cx="5212080" cy="7055853"/>
            <a:chOff x="0" y="0"/>
            <a:chExt cx="6949440" cy="94078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49440" cy="9407779"/>
            </a:xfrm>
            <a:custGeom>
              <a:avLst/>
              <a:gdLst/>
              <a:ahLst/>
              <a:cxnLst/>
              <a:rect r="r" b="b" t="t" l="l"/>
              <a:pathLst>
                <a:path h="9407779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407779"/>
                  </a:lnTo>
                  <a:lnTo>
                    <a:pt x="0" y="9407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50" r="0" b="-225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97280" y="1234440"/>
            <a:ext cx="98755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9CC8E4"/>
                </a:solidFill>
                <a:latin typeface="Sarabun Bold"/>
                <a:ea typeface="Sarabun Bold"/>
                <a:cs typeface="Sarabun Bold"/>
                <a:sym typeface="Sarabun Bold"/>
              </a:rPr>
              <a:t>โครงงานเทคโนโลยีทางการศึกษา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7280" y="1988820"/>
            <a:ext cx="9601200" cy="329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ระบบตรวจกระดาษคำตอบด้วย Computer Vision (CV) และ Machine Learning (ML)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280" y="5486400"/>
            <a:ext cx="960120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9CC8E4"/>
                </a:solidFill>
                <a:latin typeface="Sarabun"/>
                <a:ea typeface="Sarabun"/>
                <a:cs typeface="Sarabun"/>
                <a:sym typeface="Sarabun"/>
              </a:rPr>
              <a:t>สำหรับชุดกระดาษคำตอบแบบข้อเขียนภาษาอังกฤษ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243889"/>
            <a:chOff x="0" y="0"/>
            <a:chExt cx="22128480" cy="1658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8519"/>
            </a:xfrm>
            <a:custGeom>
              <a:avLst/>
              <a:gdLst/>
              <a:ahLst/>
              <a:cxnLst/>
              <a:rect r="r" b="b" t="t" l="l"/>
              <a:pathLst>
                <a:path h="165851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0" b="-2040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ที่มา ความสำคัญ และวัตถุประสงค์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920240"/>
            <a:ext cx="8092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ที่มาและความสำคัญ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5460" y="1920240"/>
            <a:ext cx="8092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วัตถุประสงค์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2674620"/>
            <a:ext cx="8092440" cy="1988820"/>
            <a:chOff x="0" y="0"/>
            <a:chExt cx="10789920" cy="2651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5860" y="3154680"/>
            <a:ext cx="1028700" cy="1028700"/>
            <a:chOff x="0" y="0"/>
            <a:chExt cx="1371600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3322" y="3422142"/>
            <a:ext cx="493776" cy="493776"/>
            <a:chOff x="0" y="0"/>
            <a:chExt cx="658368" cy="658368"/>
          </a:xfrm>
        </p:grpSpPr>
        <p:sp>
          <p:nvSpPr>
            <p:cNvPr name="Freeform 14" id="14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537460" y="2811780"/>
            <a:ext cx="6103620" cy="1714500"/>
            <a:chOff x="0" y="0"/>
            <a:chExt cx="8138160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การตรวจข้อสอบด้วยคนใช้เวลา และอาจเกิดความผิดพลาดได้สูงเมื่อมีข้อสอบจำนวนมาก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937760"/>
            <a:ext cx="8092440" cy="1988820"/>
            <a:chOff x="0" y="0"/>
            <a:chExt cx="10789920" cy="2651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5417820"/>
            <a:ext cx="1028700" cy="1028700"/>
            <a:chOff x="0" y="0"/>
            <a:chExt cx="13716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33322" y="5685282"/>
            <a:ext cx="493776" cy="493776"/>
            <a:chOff x="0" y="0"/>
            <a:chExt cx="658368" cy="658368"/>
          </a:xfrm>
        </p:grpSpPr>
        <p:sp>
          <p:nvSpPr>
            <p:cNvPr name="Freeform 23" id="23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537460" y="5074920"/>
            <a:ext cx="6103620" cy="1714500"/>
            <a:chOff x="0" y="0"/>
            <a:chExt cx="8138160" cy="228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ระบบ OMR ช่วยลดภาระได้ แต่มีข้อจำกัดด้านต้นทุน อุปกรณ์เฉพาะ และความยุ่งยากในการใช้งาน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7200900"/>
            <a:ext cx="8092440" cy="1988820"/>
            <a:chOff x="0" y="0"/>
            <a:chExt cx="10789920" cy="2651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7680960"/>
            <a:ext cx="1028700" cy="1028700"/>
            <a:chOff x="0" y="0"/>
            <a:chExt cx="13716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33322" y="7948422"/>
            <a:ext cx="493776" cy="493776"/>
            <a:chOff x="0" y="0"/>
            <a:chExt cx="658368" cy="658368"/>
          </a:xfrm>
        </p:grpSpPr>
        <p:sp>
          <p:nvSpPr>
            <p:cNvPr name="Freeform 32" id="32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537460" y="7338060"/>
            <a:ext cx="6103620" cy="1714500"/>
            <a:chOff x="0" y="0"/>
            <a:chExt cx="8138160" cy="2286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โรงเรียนที่มีงบประมาณจำกัดจึงเข้าถึงเทคโนโลยีดังกล่าวได้ยาก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95460" y="2674620"/>
            <a:ext cx="8092440" cy="1988820"/>
            <a:chOff x="0" y="0"/>
            <a:chExt cx="10789920" cy="26517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38360" y="3154680"/>
            <a:ext cx="1028700" cy="1028700"/>
            <a:chOff x="0" y="0"/>
            <a:chExt cx="137160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05822" y="3422142"/>
            <a:ext cx="493776" cy="493776"/>
            <a:chOff x="0" y="0"/>
            <a:chExt cx="658368" cy="658368"/>
          </a:xfrm>
        </p:grpSpPr>
        <p:sp>
          <p:nvSpPr>
            <p:cNvPr name="Freeform 41" id="41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109960" y="2811780"/>
            <a:ext cx="6103620" cy="1714500"/>
            <a:chOff x="0" y="0"/>
            <a:chExt cx="8138160" cy="2286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พัฒนาระบบ CV และ ML อ่านตัวอักษรภาษาอังกฤษพิมพ์ใหญ่ A–Z และช่องว่างจากภาพกระดาษคำตอบ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95460" y="4937760"/>
            <a:ext cx="8092440" cy="1988820"/>
            <a:chOff x="0" y="0"/>
            <a:chExt cx="10789920" cy="26517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738360" y="5417820"/>
            <a:ext cx="1028700" cy="1028700"/>
            <a:chOff x="0" y="0"/>
            <a:chExt cx="137160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005822" y="5685282"/>
            <a:ext cx="493776" cy="493776"/>
            <a:chOff x="0" y="0"/>
            <a:chExt cx="658368" cy="658368"/>
          </a:xfrm>
        </p:grpSpPr>
        <p:sp>
          <p:nvSpPr>
            <p:cNvPr name="Freeform 50" id="50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109960" y="5074920"/>
            <a:ext cx="6103620" cy="1714500"/>
            <a:chOff x="0" y="0"/>
            <a:chExt cx="8138160" cy="2286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ลดภาระผู้สอน เพิ่มความสม่ำเสมอในการให้คะแนน และลดความผิดพลาดของผู้ตรวจ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95460" y="7200900"/>
            <a:ext cx="8092440" cy="1988820"/>
            <a:chOff x="0" y="0"/>
            <a:chExt cx="10789920" cy="2651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8992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432304"/>
                  </a:lnTo>
                  <a:cubicBezTo>
                    <a:pt x="10789920" y="2553462"/>
                    <a:pt x="10691622" y="2651760"/>
                    <a:pt x="1057046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738360" y="7680960"/>
            <a:ext cx="1028700" cy="1028700"/>
            <a:chOff x="0" y="0"/>
            <a:chExt cx="1371600" cy="1371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005822" y="7948422"/>
            <a:ext cx="493776" cy="493776"/>
            <a:chOff x="0" y="0"/>
            <a:chExt cx="658368" cy="658368"/>
          </a:xfrm>
        </p:grpSpPr>
        <p:sp>
          <p:nvSpPr>
            <p:cNvPr name="Freeform 59" id="59" descr="icon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109960" y="7338060"/>
            <a:ext cx="6103620" cy="1714500"/>
            <a:chOff x="0" y="0"/>
            <a:chExt cx="8138160" cy="2286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3816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13816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ใช้งานสะดวก ลดการพึ่งพาเครื่อง OMR ให้สถานศึกษาที่มีงบจำกัดเข้าถึงได้ง่ายขึ้น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6962120" y="9725025"/>
            <a:ext cx="50292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243889"/>
            <a:chOff x="0" y="0"/>
            <a:chExt cx="22128480" cy="1658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8519"/>
            </a:xfrm>
            <a:custGeom>
              <a:avLst/>
              <a:gdLst/>
              <a:ahLst/>
              <a:cxnLst/>
              <a:rect r="r" b="b" t="t" l="l"/>
              <a:pathLst>
                <a:path h="165851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0" b="-2040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ขอบเขตและเงื่อนไขการใช้งาน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920240"/>
            <a:ext cx="8161020" cy="1851660"/>
            <a:chOff x="0" y="0"/>
            <a:chExt cx="10881360" cy="2468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81361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249424"/>
                  </a:lnTo>
                  <a:cubicBezTo>
                    <a:pt x="10881361" y="2370582"/>
                    <a:pt x="10783062" y="2468880"/>
                    <a:pt x="1066190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65860" y="1988515"/>
            <a:ext cx="3566160" cy="1715110"/>
            <a:chOff x="0" y="0"/>
            <a:chExt cx="4754880" cy="22868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54880" cy="2286813"/>
            </a:xfrm>
            <a:custGeom>
              <a:avLst/>
              <a:gdLst/>
              <a:ahLst/>
              <a:cxnLst/>
              <a:rect r="r" b="b" t="t" l="l"/>
              <a:pathLst>
                <a:path h="228681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286813"/>
                  </a:lnTo>
                  <a:lnTo>
                    <a:pt x="0" y="22868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49" t="0" r="-6749" b="80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754880" cy="2286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 × 20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05264" y="2215171"/>
            <a:ext cx="3904396" cy="1261797"/>
            <a:chOff x="0" y="0"/>
            <a:chExt cx="5205861" cy="16823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5861" cy="1682397"/>
            </a:xfrm>
            <a:custGeom>
              <a:avLst/>
              <a:gdLst/>
              <a:ahLst/>
              <a:cxnLst/>
              <a:rect r="r" b="b" t="t" l="l"/>
              <a:pathLst>
                <a:path h="1682397" w="5205861">
                  <a:moveTo>
                    <a:pt x="0" y="0"/>
                  </a:moveTo>
                  <a:lnTo>
                    <a:pt x="5205861" y="0"/>
                  </a:lnTo>
                  <a:lnTo>
                    <a:pt x="5205861" y="1682397"/>
                  </a:lnTo>
                  <a:lnTo>
                    <a:pt x="0" y="16823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51" t="0" r="-1014" b="-250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5205861" cy="1672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ตรวจเฉพาะตารางคำตอบ</a:t>
              </a:r>
              <a:r>
                <a:rPr lang="en-US" sz="18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 20 × 20 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(400 ช่อง/แผ่น) </a:t>
              </a:r>
              <a:r>
                <a:rPr lang="en-US" sz="18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(ตัดส่วนหัวกระดาษออกอัตโนมัติ ไม่ตรวจชื่อ-นามสกุล เลขนิสิต และ รหัสสถานศึกษา)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9448" y="1920240"/>
            <a:ext cx="8161020" cy="1851660"/>
            <a:chOff x="0" y="0"/>
            <a:chExt cx="10881360" cy="2468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81361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249424"/>
                  </a:lnTo>
                  <a:cubicBezTo>
                    <a:pt x="10881361" y="2370582"/>
                    <a:pt x="10783062" y="2468880"/>
                    <a:pt x="1066190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710928" y="2057400"/>
            <a:ext cx="3977640" cy="1577340"/>
            <a:chOff x="0" y="0"/>
            <a:chExt cx="5303520" cy="2103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035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9" t="0" r="-87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303520" cy="210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27 คลาส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853160" y="2057400"/>
            <a:ext cx="3429000" cy="1577340"/>
            <a:chOff x="0" y="0"/>
            <a:chExt cx="4572000" cy="2103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572000" cy="210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ตัวอักษรอังกฤษพิมพ์ใหญ่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A–Z และช่องว่าง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4183380"/>
            <a:ext cx="8161020" cy="2400300"/>
            <a:chOff x="0" y="0"/>
            <a:chExt cx="10881360" cy="320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5860" y="459486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15491" y="4844491"/>
            <a:ext cx="460858" cy="460858"/>
            <a:chOff x="0" y="0"/>
            <a:chExt cx="614477" cy="614477"/>
          </a:xfrm>
        </p:grpSpPr>
        <p:sp>
          <p:nvSpPr>
            <p:cNvPr name="Freeform 28" id="28" descr="icon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2400300" y="4457700"/>
            <a:ext cx="6309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เครื่องมือเขียน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00300" y="5074920"/>
            <a:ext cx="630936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ปากกาหมึกซึม ปากกาลูกลื่น ปากกาเจล และดินสอไส้บาง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99448" y="4183380"/>
            <a:ext cx="8161020" cy="2400300"/>
            <a:chOff x="0" y="0"/>
            <a:chExt cx="10881360" cy="3200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42348" y="4594860"/>
            <a:ext cx="960120" cy="960120"/>
            <a:chOff x="0" y="0"/>
            <a:chExt cx="128016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91979" y="4844491"/>
            <a:ext cx="460858" cy="460858"/>
            <a:chOff x="0" y="0"/>
            <a:chExt cx="614477" cy="614477"/>
          </a:xfrm>
        </p:grpSpPr>
        <p:sp>
          <p:nvSpPr>
            <p:cNvPr name="Freeform 36" id="36" descr="icon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" b="-8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876788" y="4457700"/>
            <a:ext cx="6309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ภาพถ่าย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76788" y="5074920"/>
            <a:ext cx="630936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เห็นกรอบตารางคำตอบ 20 × 20 ครบทั้ง 4 มุมชัดเจน (แม้แถบมาร์กเกอร์ด้านข้างถูกนิ้วบังก็ยังตรวจได้)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2960" y="6858000"/>
            <a:ext cx="8161020" cy="2400300"/>
            <a:chOff x="0" y="0"/>
            <a:chExt cx="10881360" cy="3200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5860" y="7269480"/>
            <a:ext cx="960120" cy="960120"/>
            <a:chOff x="0" y="0"/>
            <a:chExt cx="1280160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15491" y="7519111"/>
            <a:ext cx="460858" cy="460858"/>
            <a:chOff x="0" y="0"/>
            <a:chExt cx="614477" cy="614477"/>
          </a:xfrm>
        </p:grpSpPr>
        <p:sp>
          <p:nvSpPr>
            <p:cNvPr name="Freeform 44" id="44" descr="icon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" b="-8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2400300" y="7132320"/>
            <a:ext cx="6309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การเขียน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00300" y="7749540"/>
            <a:ext cx="630936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หนึ่งตัวอักษรต่อช่อง ไม่ล้ำช่องข้างเคียงมาก และใช้เฉลยตรงกับเทมเพลต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299448" y="6858000"/>
            <a:ext cx="8161020" cy="2400300"/>
            <a:chOff x="0" y="0"/>
            <a:chExt cx="10881360" cy="3200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642348" y="7269480"/>
            <a:ext cx="960120" cy="960120"/>
            <a:chOff x="0" y="0"/>
            <a:chExt cx="1280160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891979" y="7519111"/>
            <a:ext cx="460858" cy="460858"/>
            <a:chOff x="0" y="0"/>
            <a:chExt cx="614477" cy="614477"/>
          </a:xfrm>
        </p:grpSpPr>
        <p:sp>
          <p:nvSpPr>
            <p:cNvPr name="Freeform 52" id="52" descr="icon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0876788" y="7132320"/>
            <a:ext cx="6309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การตรวจทานโดยมนุษย์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876788" y="7749540"/>
            <a:ext cx="630936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ช่องความมั่นใจต่ำถูกแท็ก Needs_Review ระบบเป็นเครื่องมือช่วย ไม่ใช่ผู้ตัดสินขั้นสุดท้าย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962120" y="9725025"/>
            <a:ext cx="50292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24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ข้อมูลที่ใช้และข้อจำกัดของระบบ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920240"/>
            <a:ext cx="7543800" cy="1783080"/>
            <a:chOff x="0" y="0"/>
            <a:chExt cx="10058400" cy="2377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058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38944" y="0"/>
                  </a:lnTo>
                  <a:cubicBezTo>
                    <a:pt x="9960102" y="0"/>
                    <a:pt x="10058400" y="98298"/>
                    <a:pt x="10058400" y="219456"/>
                  </a:cubicBezTo>
                  <a:lnTo>
                    <a:pt x="10058400" y="2157984"/>
                  </a:lnTo>
                  <a:cubicBezTo>
                    <a:pt x="10058400" y="2279142"/>
                    <a:pt x="9960102" y="2377440"/>
                    <a:pt x="9838944" y="2377440"/>
                  </a:cubicBezTo>
                  <a:lnTo>
                    <a:pt x="219456" y="2377440"/>
                  </a:lnTo>
                  <a:cubicBezTo>
                    <a:pt x="98298" y="2377440"/>
                    <a:pt x="0" y="2279142"/>
                    <a:pt x="0" y="215798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057400"/>
            <a:ext cx="6720840" cy="1013041"/>
            <a:chOff x="0" y="0"/>
            <a:chExt cx="8961120" cy="13507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61120" cy="1350721"/>
            </a:xfrm>
            <a:custGeom>
              <a:avLst/>
              <a:gdLst/>
              <a:ahLst/>
              <a:cxnLst/>
              <a:rect r="r" b="b" t="t" l="l"/>
              <a:pathLst>
                <a:path h="1350721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350721"/>
                  </a:lnTo>
                  <a:lnTo>
                    <a:pt x="0" y="1350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51" r="0" b="-6988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8961120" cy="1341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87</a:t>
              </a: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ภาพ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4440" y="2823210"/>
            <a:ext cx="713232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ชุดฝึกสอนภาพถ่ายกระดาษ ใช้ร่วมกับข้อมูล EMNIST / KAGGLE A–Z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2960" y="3977640"/>
            <a:ext cx="7543800" cy="1783080"/>
            <a:chOff x="0" y="0"/>
            <a:chExt cx="1005840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058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38944" y="0"/>
                  </a:lnTo>
                  <a:cubicBezTo>
                    <a:pt x="9960102" y="0"/>
                    <a:pt x="10058400" y="98298"/>
                    <a:pt x="10058400" y="219456"/>
                  </a:cubicBezTo>
                  <a:lnTo>
                    <a:pt x="10058400" y="2157984"/>
                  </a:lnTo>
                  <a:cubicBezTo>
                    <a:pt x="10058400" y="2279142"/>
                    <a:pt x="9960102" y="2377440"/>
                    <a:pt x="9838944" y="2377440"/>
                  </a:cubicBezTo>
                  <a:lnTo>
                    <a:pt x="219456" y="2377440"/>
                  </a:lnTo>
                  <a:cubicBezTo>
                    <a:pt x="98298" y="2377440"/>
                    <a:pt x="0" y="2279142"/>
                    <a:pt x="0" y="215798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4050449"/>
            <a:ext cx="6720840" cy="1013041"/>
            <a:chOff x="0" y="0"/>
            <a:chExt cx="8961120" cy="13507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61120" cy="1350721"/>
            </a:xfrm>
            <a:custGeom>
              <a:avLst/>
              <a:gdLst/>
              <a:ahLst/>
              <a:cxnLst/>
              <a:rect r="r" b="b" t="t" l="l"/>
              <a:pathLst>
                <a:path h="1350721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350721"/>
                  </a:lnTo>
                  <a:lnTo>
                    <a:pt x="0" y="1350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51" r="0" b="-698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8961120" cy="1341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56,854 ช่อง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00150" y="4928235"/>
            <a:ext cx="672084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ข้อมูลฝึกสอนรวม ขยายด้วย Data Augmentation กว่า 470,000 รูปแบบ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6035040"/>
            <a:ext cx="7543800" cy="1783080"/>
            <a:chOff x="0" y="0"/>
            <a:chExt cx="10058400" cy="2377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058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38944" y="0"/>
                  </a:lnTo>
                  <a:cubicBezTo>
                    <a:pt x="9960102" y="0"/>
                    <a:pt x="10058400" y="98298"/>
                    <a:pt x="10058400" y="219456"/>
                  </a:cubicBezTo>
                  <a:lnTo>
                    <a:pt x="10058400" y="2157984"/>
                  </a:lnTo>
                  <a:cubicBezTo>
                    <a:pt x="10058400" y="2279142"/>
                    <a:pt x="9960102" y="2377440"/>
                    <a:pt x="9838944" y="2377440"/>
                  </a:cubicBezTo>
                  <a:lnTo>
                    <a:pt x="219456" y="2377440"/>
                  </a:lnTo>
                  <a:cubicBezTo>
                    <a:pt x="98298" y="2377440"/>
                    <a:pt x="0" y="2279142"/>
                    <a:pt x="0" y="215798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6172200"/>
            <a:ext cx="6720840" cy="1013041"/>
            <a:chOff x="0" y="0"/>
            <a:chExt cx="8961120" cy="13507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61120" cy="1350721"/>
            </a:xfrm>
            <a:custGeom>
              <a:avLst/>
              <a:gdLst/>
              <a:ahLst/>
              <a:cxnLst/>
              <a:rect r="r" b="b" t="t" l="l"/>
              <a:pathLst>
                <a:path h="1350721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350721"/>
                  </a:lnTo>
                  <a:lnTo>
                    <a:pt x="0" y="1350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51" r="0" b="-6988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8961120" cy="1341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12</a:t>
              </a:r>
              <a:r>
                <a:rPr lang="en-US" sz="39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แผ่น · 4,800 ช่อง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34440" y="6985635"/>
            <a:ext cx="672084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ชุดทดสอบจริง (12 × 400 ช่อง)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8161020"/>
            <a:ext cx="7543800" cy="1369695"/>
            <a:chOff x="0" y="0"/>
            <a:chExt cx="10058400" cy="18262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1826260"/>
            </a:xfrm>
            <a:custGeom>
              <a:avLst/>
              <a:gdLst/>
              <a:ahLst/>
              <a:cxnLst/>
              <a:rect r="r" b="b" t="t" l="l"/>
              <a:pathLst>
                <a:path h="1826260" w="10058400">
                  <a:moveTo>
                    <a:pt x="0" y="230685"/>
                  </a:moveTo>
                  <a:cubicBezTo>
                    <a:pt x="0" y="103328"/>
                    <a:pt x="98298" y="0"/>
                    <a:pt x="219456" y="0"/>
                  </a:cubicBezTo>
                  <a:lnTo>
                    <a:pt x="9838944" y="0"/>
                  </a:lnTo>
                  <a:cubicBezTo>
                    <a:pt x="9960102" y="0"/>
                    <a:pt x="10058400" y="103328"/>
                    <a:pt x="10058400" y="230685"/>
                  </a:cubicBezTo>
                  <a:lnTo>
                    <a:pt x="10058400" y="1595575"/>
                  </a:lnTo>
                  <a:cubicBezTo>
                    <a:pt x="10058400" y="1722932"/>
                    <a:pt x="9960102" y="1826260"/>
                    <a:pt x="9838944" y="1826260"/>
                  </a:cubicBezTo>
                  <a:lnTo>
                    <a:pt x="219456" y="1826260"/>
                  </a:lnTo>
                  <a:cubicBezTo>
                    <a:pt x="98298" y="1826260"/>
                    <a:pt x="0" y="1722932"/>
                    <a:pt x="0" y="15955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0150" y="8227695"/>
            <a:ext cx="6789420" cy="1303020"/>
            <a:chOff x="0" y="0"/>
            <a:chExt cx="9052560" cy="1737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52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27" r="0" b="-515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05256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สภาพแวดล้อม  </a:t>
              </a:r>
              <a:r>
                <a:rPr lang="en-US" sz="2100" b="true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Python 3.10+, OpenCV, Scikit-learn, PyTorch รองรับ GPU Acceleration (CUDA) และ CPU Fallback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778240" y="1920240"/>
            <a:ext cx="8682228" cy="7543800"/>
            <a:chOff x="0" y="0"/>
            <a:chExt cx="11576304" cy="10058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76304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157630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356848" y="0"/>
                  </a:lnTo>
                  <a:cubicBezTo>
                    <a:pt x="11478006" y="0"/>
                    <a:pt x="11576304" y="98298"/>
                    <a:pt x="11576304" y="219456"/>
                  </a:cubicBezTo>
                  <a:lnTo>
                    <a:pt x="11576304" y="9838944"/>
                  </a:lnTo>
                  <a:cubicBezTo>
                    <a:pt x="11576304" y="9960101"/>
                    <a:pt x="11478006" y="10058400"/>
                    <a:pt x="11356848" y="10058400"/>
                  </a:cubicBezTo>
                  <a:lnTo>
                    <a:pt x="219456" y="10058400"/>
                  </a:lnTo>
                  <a:cubicBezTo>
                    <a:pt x="98298" y="10058400"/>
                    <a:pt x="0" y="9960102"/>
                    <a:pt x="0" y="9838944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326880" y="2194560"/>
            <a:ext cx="768096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สิ่งที่ไม่รองรับ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26880" y="3264408"/>
            <a:ext cx="438912" cy="438912"/>
            <a:chOff x="0" y="0"/>
            <a:chExt cx="585216" cy="585216"/>
          </a:xfrm>
        </p:grpSpPr>
        <p:sp>
          <p:nvSpPr>
            <p:cNvPr name="Freeform 34" id="34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012680" y="3341370"/>
            <a:ext cx="7063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ตัวพิมพ์เล็ก ตัวเลข อักขระพิเศษ และอักษรภาษาไทย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26880" y="5608701"/>
            <a:ext cx="438912" cy="438912"/>
            <a:chOff x="0" y="0"/>
            <a:chExt cx="585216" cy="585216"/>
          </a:xfrm>
        </p:grpSpPr>
        <p:sp>
          <p:nvSpPr>
            <p:cNvPr name="Freeform 37" id="37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012680" y="5466207"/>
            <a:ext cx="61561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ตารางขนาดอื่นที่ไม่ใช่ 20 × 20 หรือแบบฟอร์มที่ไม่มีเส้นกรอบตารางชัดเจน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326880" y="6598539"/>
            <a:ext cx="438912" cy="438912"/>
            <a:chOff x="0" y="0"/>
            <a:chExt cx="585216" cy="585216"/>
          </a:xfrm>
        </p:grpSpPr>
        <p:sp>
          <p:nvSpPr>
            <p:cNvPr name="Freeform 40" id="40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012680" y="6637020"/>
            <a:ext cx="7063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ภาพเอียงรุนแรง เบลอมาก หรือภาพที่แสงเงาเข้มจัด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26880" y="7637145"/>
            <a:ext cx="438912" cy="438912"/>
            <a:chOff x="0" y="0"/>
            <a:chExt cx="585216" cy="585216"/>
          </a:xfrm>
        </p:grpSpPr>
        <p:sp>
          <p:nvSpPr>
            <p:cNvPr name="Freeform 43" id="43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978390" y="7637145"/>
            <a:ext cx="7063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การแก้คำสะกดอัตโนมัติ (เช่น FIND ไม่ถูกแก้เป็น FINE)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26880" y="8626411"/>
            <a:ext cx="438912" cy="438912"/>
            <a:chOff x="0" y="0"/>
            <a:chExt cx="585216" cy="585216"/>
          </a:xfrm>
        </p:grpSpPr>
        <p:sp>
          <p:nvSpPr>
            <p:cNvPr name="Freeform 46" id="46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978390" y="8664892"/>
            <a:ext cx="7063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การทำงานแบบเรียลไทม์บนมือถือ และเว็บแอปพลิเคชัน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962120" y="9725025"/>
            <a:ext cx="50292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326880" y="4498848"/>
            <a:ext cx="438912" cy="438912"/>
            <a:chOff x="0" y="0"/>
            <a:chExt cx="585216" cy="585216"/>
          </a:xfrm>
        </p:grpSpPr>
        <p:sp>
          <p:nvSpPr>
            <p:cNvPr name="Freeform 50" id="50" descr="ico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0012680" y="4114800"/>
            <a:ext cx="672147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ข้อมูลส่วนหัวกระดาษคำตอบ (ชื่อ-นามสกุล, รหัสนิสิต /เลขประจำตัว, รหัสวิชา, รหัสสถานศึกษา และช่องฝนปรนัยด้านบน)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ขั้นตอนการทำงานของระบบ 8 ขั้นตอน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851660"/>
            <a:ext cx="6858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การประมวลผลภาพ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" y="5829300"/>
            <a:ext cx="82296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โมเดล AI และการแก้ผลลัพธ์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2674620"/>
            <a:ext cx="3771900" cy="2880360"/>
            <a:chOff x="0" y="0"/>
            <a:chExt cx="5029200" cy="38404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7280" y="2948940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294894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3764280"/>
            <a:ext cx="329717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Univ</a:t>
            </a: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ersal Grid Refinement &amp; Warp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650105"/>
            <a:ext cx="349498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ล็อกขอบตาราง และ</a:t>
            </a: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ปรับระนาบและแก้ความเอียงของภาพ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11953" y="2674620"/>
            <a:ext cx="3771900" cy="2880360"/>
            <a:chOff x="0" y="0"/>
            <a:chExt cx="5029200" cy="3840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86273" y="2948940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386273" y="2948940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386273" y="374446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Dynamic Profiling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86273" y="451675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ตรวจหาเส้นตารางและแบ่ง 20 × 20 ช่องแบบไดนามิก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00946" y="2674620"/>
            <a:ext cx="3771900" cy="2880360"/>
            <a:chOff x="0" y="0"/>
            <a:chExt cx="5029200" cy="3840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75266" y="294894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75266" y="294894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675266" y="374446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Variance Gate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75266" y="451675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คัดกรองช่องว่าง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689940" y="2674620"/>
            <a:ext cx="3771900" cy="2880360"/>
            <a:chOff x="0" y="0"/>
            <a:chExt cx="5029200" cy="3840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964260" y="294894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964260" y="2948940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964260" y="374446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Centroid Alignment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964260" y="451675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จัดตัวอักษรให้อยู่กึ่งกลาง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689940" y="6515100"/>
            <a:ext cx="3771900" cy="2880360"/>
            <a:chOff x="0" y="0"/>
            <a:chExt cx="5029200" cy="3840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964260" y="6789420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964260" y="6789420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5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964260" y="758494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Dual-Stream AI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964260" y="835723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วิเคราะห์ด้วย Dual-MLP และ CharCNN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400946" y="6515100"/>
            <a:ext cx="3771900" cy="2880360"/>
            <a:chOff x="0" y="0"/>
            <a:chExt cx="5029200" cy="3840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75266" y="6789420"/>
            <a:ext cx="685800" cy="685800"/>
            <a:chOff x="0" y="0"/>
            <a:chExt cx="9144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5266" y="6789420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6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9675266" y="758494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Super-Ensemble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675266" y="8357235"/>
            <a:ext cx="32232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รวมผล MLP และ CNN 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5111953" y="6515100"/>
            <a:ext cx="3771900" cy="2880360"/>
            <a:chOff x="0" y="0"/>
            <a:chExt cx="5029200" cy="38404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386273" y="6789420"/>
            <a:ext cx="685800" cy="685800"/>
            <a:chOff x="0" y="0"/>
            <a:chExt cx="9144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386273" y="6789420"/>
            <a:ext cx="685800" cy="685800"/>
            <a:chOff x="0" y="0"/>
            <a:chExt cx="91440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7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5386273" y="758494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Topological Disambiguation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386273" y="835723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ใช้กฎโครงสร้างแยกตัวอักษรที่คล้ายกัน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22960" y="6515100"/>
            <a:ext cx="3771900" cy="2880360"/>
            <a:chOff x="0" y="0"/>
            <a:chExt cx="5029200" cy="38404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621024"/>
                  </a:lnTo>
                  <a:cubicBezTo>
                    <a:pt x="5029200" y="3742182"/>
                    <a:pt x="4930902" y="3840480"/>
                    <a:pt x="4809744" y="3840480"/>
                  </a:cubicBezTo>
                  <a:lnTo>
                    <a:pt x="219456" y="3840480"/>
                  </a:lnTo>
                  <a:cubicBezTo>
                    <a:pt x="98298" y="3840480"/>
                    <a:pt x="0" y="3742182"/>
                    <a:pt x="0" y="3621024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97280" y="6789420"/>
            <a:ext cx="685800" cy="685800"/>
            <a:chOff x="0" y="0"/>
            <a:chExt cx="9144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97280" y="6789420"/>
            <a:ext cx="685800" cy="685800"/>
            <a:chOff x="0" y="0"/>
            <a:chExt cx="91440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E7C86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8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097280" y="7584948"/>
            <a:ext cx="3223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Academic Integrity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97280" y="8357235"/>
            <a:ext cx="32232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แสดงตามตัวอักษรที่เขียนจริง ไม่ปรับแต่งคำด้วย NLP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4649724" y="3881628"/>
            <a:ext cx="411480" cy="466344"/>
            <a:chOff x="0" y="0"/>
            <a:chExt cx="548640" cy="6217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938717" y="3881628"/>
            <a:ext cx="411480" cy="466344"/>
            <a:chOff x="0" y="0"/>
            <a:chExt cx="548640" cy="6217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3227710" y="3881628"/>
            <a:ext cx="411480" cy="466344"/>
            <a:chOff x="0" y="0"/>
            <a:chExt cx="548640" cy="6217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87" id="87"/>
          <p:cNvGrpSpPr/>
          <p:nvPr/>
        </p:nvGrpSpPr>
        <p:grpSpPr>
          <a:xfrm rot="-10800000">
            <a:off x="4649724" y="7722108"/>
            <a:ext cx="411480" cy="466344"/>
            <a:chOff x="0" y="0"/>
            <a:chExt cx="548640" cy="6217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-10800000">
            <a:off x="8938717" y="7722108"/>
            <a:ext cx="411480" cy="466344"/>
            <a:chOff x="0" y="0"/>
            <a:chExt cx="548640" cy="6217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-10800000">
            <a:off x="13227710" y="7722108"/>
            <a:ext cx="411480" cy="466344"/>
            <a:chOff x="0" y="0"/>
            <a:chExt cx="548640" cy="62179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48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">
                  <a:moveTo>
                    <a:pt x="0" y="155448"/>
                  </a:moveTo>
                  <a:lnTo>
                    <a:pt x="274320" y="155448"/>
                  </a:lnTo>
                  <a:lnTo>
                    <a:pt x="274320" y="0"/>
                  </a:lnTo>
                  <a:lnTo>
                    <a:pt x="548640" y="310896"/>
                  </a:lnTo>
                  <a:lnTo>
                    <a:pt x="274320" y="621792"/>
                  </a:lnTo>
                  <a:lnTo>
                    <a:pt x="274320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grpSp>
        <p:nvGrpSpPr>
          <p:cNvPr name="Group 93" id="93"/>
          <p:cNvGrpSpPr/>
          <p:nvPr/>
        </p:nvGrpSpPr>
        <p:grpSpPr>
          <a:xfrm rot="5400000">
            <a:off x="15342718" y="5760720"/>
            <a:ext cx="466344" cy="411480"/>
            <a:chOff x="0" y="0"/>
            <a:chExt cx="621792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21792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">
                  <a:moveTo>
                    <a:pt x="0" y="137160"/>
                  </a:moveTo>
                  <a:lnTo>
                    <a:pt x="347472" y="137160"/>
                  </a:lnTo>
                  <a:lnTo>
                    <a:pt x="347472" y="0"/>
                  </a:lnTo>
                  <a:lnTo>
                    <a:pt x="621792" y="274320"/>
                  </a:lnTo>
                  <a:lnTo>
                    <a:pt x="347472" y="548640"/>
                  </a:lnTo>
                  <a:lnTo>
                    <a:pt x="347472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5B6B7B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16962120" y="9725025"/>
            <a:ext cx="50292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44848" y="1493481"/>
            <a:ext cx="6690455" cy="2923592"/>
            <a:chOff x="0" y="0"/>
            <a:chExt cx="6412593" cy="28021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12491" cy="2802172"/>
            </a:xfrm>
            <a:custGeom>
              <a:avLst/>
              <a:gdLst/>
              <a:ahLst/>
              <a:cxnLst/>
              <a:rect r="r" b="b" t="t" l="l"/>
              <a:pathLst>
                <a:path h="2802172" w="6412491">
                  <a:moveTo>
                    <a:pt x="0" y="271101"/>
                  </a:moveTo>
                  <a:cubicBezTo>
                    <a:pt x="0" y="121353"/>
                    <a:pt x="75696" y="0"/>
                    <a:pt x="169103" y="0"/>
                  </a:cubicBezTo>
                  <a:lnTo>
                    <a:pt x="6243388" y="0"/>
                  </a:lnTo>
                  <a:cubicBezTo>
                    <a:pt x="6336795" y="0"/>
                    <a:pt x="6412491" y="121353"/>
                    <a:pt x="6412491" y="271101"/>
                  </a:cubicBezTo>
                  <a:lnTo>
                    <a:pt x="6412491" y="2531071"/>
                  </a:lnTo>
                  <a:cubicBezTo>
                    <a:pt x="6412491" y="2680819"/>
                    <a:pt x="6336795" y="2802172"/>
                    <a:pt x="6243388" y="2802172"/>
                  </a:cubicBezTo>
                  <a:lnTo>
                    <a:pt x="169103" y="2802172"/>
                  </a:lnTo>
                  <a:cubicBezTo>
                    <a:pt x="75696" y="2802172"/>
                    <a:pt x="0" y="2680819"/>
                    <a:pt x="0" y="2531071"/>
                  </a:cubicBezTo>
                  <a:close/>
                </a:path>
              </a:pathLst>
            </a:custGeom>
            <a:solidFill>
              <a:srgbClr val="C1FF72"/>
            </a:solidFill>
            <a:ln w="14288" cap="sq">
              <a:solidFill>
                <a:srgbClr val="7CBA1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596579" y="4501438"/>
            <a:ext cx="3986992" cy="5417820"/>
            <a:chOff x="0" y="0"/>
            <a:chExt cx="5315990" cy="7223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15989" cy="7223761"/>
            </a:xfrm>
            <a:custGeom>
              <a:avLst/>
              <a:gdLst/>
              <a:ahLst/>
              <a:cxnLst/>
              <a:rect r="r" b="b" t="t" l="l"/>
              <a:pathLst>
                <a:path h="7223761" w="5315989">
                  <a:moveTo>
                    <a:pt x="0" y="219456"/>
                  </a:moveTo>
                  <a:cubicBezTo>
                    <a:pt x="0" y="98298"/>
                    <a:pt x="100258" y="0"/>
                    <a:pt x="223831" y="0"/>
                  </a:cubicBezTo>
                  <a:lnTo>
                    <a:pt x="5092158" y="0"/>
                  </a:lnTo>
                  <a:cubicBezTo>
                    <a:pt x="5215732" y="0"/>
                    <a:pt x="5315989" y="98298"/>
                    <a:pt x="5315989" y="219456"/>
                  </a:cubicBezTo>
                  <a:lnTo>
                    <a:pt x="5315989" y="7004304"/>
                  </a:lnTo>
                  <a:cubicBezTo>
                    <a:pt x="5315989" y="7125462"/>
                    <a:pt x="5215732" y="7223761"/>
                    <a:pt x="5092158" y="7223761"/>
                  </a:cubicBezTo>
                  <a:lnTo>
                    <a:pt x="223831" y="7223761"/>
                  </a:lnTo>
                  <a:cubicBezTo>
                    <a:pt x="10025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384801" y="4501438"/>
            <a:ext cx="3986992" cy="5417820"/>
            <a:chOff x="0" y="0"/>
            <a:chExt cx="5315990" cy="7223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15989" cy="7223761"/>
            </a:xfrm>
            <a:custGeom>
              <a:avLst/>
              <a:gdLst/>
              <a:ahLst/>
              <a:cxnLst/>
              <a:rect r="r" b="b" t="t" l="l"/>
              <a:pathLst>
                <a:path h="7223761" w="5315989">
                  <a:moveTo>
                    <a:pt x="0" y="219456"/>
                  </a:moveTo>
                  <a:cubicBezTo>
                    <a:pt x="0" y="98298"/>
                    <a:pt x="100258" y="0"/>
                    <a:pt x="223831" y="0"/>
                  </a:cubicBezTo>
                  <a:lnTo>
                    <a:pt x="5092158" y="0"/>
                  </a:lnTo>
                  <a:cubicBezTo>
                    <a:pt x="5215732" y="0"/>
                    <a:pt x="5315989" y="98298"/>
                    <a:pt x="5315989" y="219456"/>
                  </a:cubicBezTo>
                  <a:lnTo>
                    <a:pt x="5315989" y="7004304"/>
                  </a:lnTo>
                  <a:cubicBezTo>
                    <a:pt x="5315989" y="7125462"/>
                    <a:pt x="5215732" y="7223761"/>
                    <a:pt x="5092158" y="7223761"/>
                  </a:cubicBezTo>
                  <a:lnTo>
                    <a:pt x="223831" y="7223761"/>
                  </a:lnTo>
                  <a:cubicBezTo>
                    <a:pt x="10025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18754" y="4828367"/>
            <a:ext cx="3519086" cy="4763962"/>
            <a:chOff x="0" y="0"/>
            <a:chExt cx="6949440" cy="94078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9440" cy="9407779"/>
            </a:xfrm>
            <a:custGeom>
              <a:avLst/>
              <a:gdLst/>
              <a:ahLst/>
              <a:cxnLst/>
              <a:rect r="r" b="b" t="t" l="l"/>
              <a:pathLst>
                <a:path h="9407779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407779"/>
                  </a:lnTo>
                  <a:lnTo>
                    <a:pt x="0" y="9407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65" r="0" b="-226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68345" y="1493481"/>
            <a:ext cx="6419903" cy="2923592"/>
            <a:chOff x="0" y="0"/>
            <a:chExt cx="8559871" cy="389812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559871" cy="3898123"/>
              <a:chOff x="0" y="0"/>
              <a:chExt cx="6531687" cy="297449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531583" cy="2974498"/>
              </a:xfrm>
              <a:custGeom>
                <a:avLst/>
                <a:gdLst/>
                <a:ahLst/>
                <a:cxnLst/>
                <a:rect r="r" b="b" t="t" l="l"/>
                <a:pathLst>
                  <a:path h="2974498" w="6531583">
                    <a:moveTo>
                      <a:pt x="0" y="287773"/>
                    </a:moveTo>
                    <a:cubicBezTo>
                      <a:pt x="0" y="128816"/>
                      <a:pt x="77101" y="0"/>
                      <a:pt x="172244" y="0"/>
                    </a:cubicBezTo>
                    <a:lnTo>
                      <a:pt x="6359339" y="0"/>
                    </a:lnTo>
                    <a:cubicBezTo>
                      <a:pt x="6454481" y="0"/>
                      <a:pt x="6531583" y="128816"/>
                      <a:pt x="6531583" y="287773"/>
                    </a:cubicBezTo>
                    <a:lnTo>
                      <a:pt x="6531583" y="2686725"/>
                    </a:lnTo>
                    <a:cubicBezTo>
                      <a:pt x="6531583" y="2845682"/>
                      <a:pt x="6454481" y="2974498"/>
                      <a:pt x="6359339" y="2974498"/>
                    </a:cubicBezTo>
                    <a:lnTo>
                      <a:pt x="172244" y="2974498"/>
                    </a:lnTo>
                    <a:cubicBezTo>
                      <a:pt x="77101" y="2974498"/>
                      <a:pt x="0" y="2845682"/>
                      <a:pt x="0" y="2686725"/>
                    </a:cubicBezTo>
                    <a:close/>
                  </a:path>
                </a:pathLst>
              </a:custGeom>
              <a:solidFill>
                <a:srgbClr val="BFDBFE"/>
              </a:solidFill>
              <a:ln w="14288" cap="sq">
                <a:solidFill>
                  <a:srgbClr val="BFDBFE"/>
                </a:solidFill>
                <a:prstDash val="solid"/>
                <a:miter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34310" y="295469"/>
              <a:ext cx="2291251" cy="78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17"/>
                </a:lnSpc>
              </a:pPr>
              <a:r>
                <a:rPr lang="en-US" b="true" sz="3931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Train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1542" y="2630621"/>
              <a:ext cx="8256787" cy="472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1"/>
                </a:lnSpc>
              </a:pPr>
              <a:r>
                <a:rPr lang="en-US" b="true" sz="2621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(87แผ่น +  EMNIST &amp; Kaggle A–Z)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54002" y="1378739"/>
              <a:ext cx="5851868" cy="1029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35"/>
                </a:lnSpc>
              </a:pPr>
              <a:r>
                <a:rPr lang="en-US" sz="5635" b="true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56,854 ช่อง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1542" y="3321680"/>
              <a:ext cx="8256787" cy="344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1"/>
                </a:lnSpc>
              </a:pPr>
              <a:r>
                <a:rPr lang="en-US" sz="1921" b="true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ขยายด้วย</a:t>
              </a:r>
              <a:r>
                <a:rPr lang="en-US" b="true" sz="1921">
                  <a:solidFill>
                    <a:srgbClr val="1D4ED8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Data Augmentation กว่า 470,000 รูปแบบ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30532" y="4828367"/>
            <a:ext cx="3519086" cy="4763962"/>
            <a:chOff x="0" y="0"/>
            <a:chExt cx="6949440" cy="94078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9440" cy="9407779"/>
            </a:xfrm>
            <a:custGeom>
              <a:avLst/>
              <a:gdLst/>
              <a:ahLst/>
              <a:cxnLst/>
              <a:rect r="r" b="b" t="t" l="l"/>
              <a:pathLst>
                <a:path h="9407779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407779"/>
                  </a:lnTo>
                  <a:lnTo>
                    <a:pt x="0" y="9407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50" r="0" b="-225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137298" y="2761151"/>
            <a:ext cx="2905555" cy="68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5177" b="true">
                <a:solidFill>
                  <a:srgbClr val="16A34A"/>
                </a:solidFill>
                <a:latin typeface="Sarabun Bold"/>
                <a:ea typeface="Sarabun Bold"/>
                <a:cs typeface="Sarabun Bold"/>
                <a:sym typeface="Sarabun Bold"/>
              </a:rPr>
              <a:t>12 แผ่น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78016" y="1970905"/>
            <a:ext cx="1824118" cy="63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sz="4173" b="true">
                <a:solidFill>
                  <a:srgbClr val="15803D"/>
                </a:solidFill>
                <a:latin typeface="Sarabun Bold"/>
                <a:ea typeface="Sarabun Bold"/>
                <a:cs typeface="Sarabun Bold"/>
                <a:sym typeface="Sarabun Bold"/>
              </a:rPr>
              <a:t>Test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36219" y="3551318"/>
            <a:ext cx="3107712" cy="35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2782" b="true">
                <a:solidFill>
                  <a:srgbClr val="16A34A"/>
                </a:solidFill>
                <a:latin typeface="Sarabun Bold"/>
                <a:ea typeface="Sarabun Bold"/>
                <a:cs typeface="Sarabun Bold"/>
                <a:sym typeface="Sarabun Bold"/>
              </a:rPr>
              <a:t>4,800  ช่อง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58775"/>
            <a:ext cx="1088915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การเตรียมชุดข้อมูลฝึกสอนและชุดทดสอบจริง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31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การประมวลผลภาพและการเตรียมคุณลักษณะ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77340"/>
            <a:ext cx="3910134" cy="5419309"/>
            <a:chOff x="0" y="0"/>
            <a:chExt cx="5212080" cy="7223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7223761"/>
            </a:xfrm>
            <a:custGeom>
              <a:avLst/>
              <a:gdLst/>
              <a:ahLst/>
              <a:cxnLst/>
              <a:rect r="r" b="b" t="t" l="l"/>
              <a:pathLst>
                <a:path h="7223761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7004304"/>
                  </a:lnTo>
                  <a:cubicBezTo>
                    <a:pt x="5212080" y="7125462"/>
                    <a:pt x="5113782" y="7223761"/>
                    <a:pt x="4992624" y="7223761"/>
                  </a:cubicBezTo>
                  <a:lnTo>
                    <a:pt x="219456" y="7223761"/>
                  </a:lnTo>
                  <a:cubicBezTo>
                    <a:pt x="9829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57" y="1783137"/>
            <a:ext cx="3498541" cy="1989367"/>
            <a:chOff x="0" y="0"/>
            <a:chExt cx="4663440" cy="2651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63440" cy="2651760"/>
            </a:xfrm>
            <a:custGeom>
              <a:avLst/>
              <a:gdLst/>
              <a:ahLst/>
              <a:cxnLst/>
              <a:rect r="r" b="b" t="t" l="l"/>
              <a:pathLst>
                <a:path h="265176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2468880"/>
                  </a:lnTo>
                  <a:cubicBezTo>
                    <a:pt x="4663440" y="2569845"/>
                    <a:pt x="4581525" y="2651760"/>
                    <a:pt x="4480560" y="2651760"/>
                  </a:cubicBezTo>
                  <a:lnTo>
                    <a:pt x="182880" y="2651760"/>
                  </a:lnTo>
                  <a:cubicBezTo>
                    <a:pt x="81915" y="2651760"/>
                    <a:pt x="0" y="2569845"/>
                    <a:pt x="0" y="2468880"/>
                  </a:cubicBezTo>
                  <a:close/>
                </a:path>
              </a:pathLst>
            </a:custGeom>
            <a:blipFill>
              <a:blip r:embed="rId4"/>
              <a:stretch>
                <a:fillRect l="0" t="-2638" r="0" b="-263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066485" y="1577340"/>
            <a:ext cx="3910134" cy="5419309"/>
            <a:chOff x="0" y="0"/>
            <a:chExt cx="5212080" cy="7223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12080" cy="7223761"/>
            </a:xfrm>
            <a:custGeom>
              <a:avLst/>
              <a:gdLst/>
              <a:ahLst/>
              <a:cxnLst/>
              <a:rect r="r" b="b" t="t" l="l"/>
              <a:pathLst>
                <a:path h="7223761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7004304"/>
                  </a:lnTo>
                  <a:cubicBezTo>
                    <a:pt x="5212080" y="7125462"/>
                    <a:pt x="5113782" y="7223761"/>
                    <a:pt x="4992624" y="7223761"/>
                  </a:cubicBezTo>
                  <a:lnTo>
                    <a:pt x="219456" y="7223761"/>
                  </a:lnTo>
                  <a:cubicBezTo>
                    <a:pt x="9829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72281" y="1783137"/>
            <a:ext cx="3498541" cy="1989367"/>
            <a:chOff x="0" y="0"/>
            <a:chExt cx="4663440" cy="2651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63440" cy="2651760"/>
            </a:xfrm>
            <a:custGeom>
              <a:avLst/>
              <a:gdLst/>
              <a:ahLst/>
              <a:cxnLst/>
              <a:rect r="r" b="b" t="t" l="l"/>
              <a:pathLst>
                <a:path h="265176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2468880"/>
                  </a:lnTo>
                  <a:cubicBezTo>
                    <a:pt x="4663440" y="2569845"/>
                    <a:pt x="4581525" y="2651760"/>
                    <a:pt x="4480560" y="2651760"/>
                  </a:cubicBezTo>
                  <a:lnTo>
                    <a:pt x="182880" y="2651760"/>
                  </a:lnTo>
                  <a:cubicBezTo>
                    <a:pt x="81915" y="2651760"/>
                    <a:pt x="0" y="2569845"/>
                    <a:pt x="0" y="2468880"/>
                  </a:cubicBezTo>
                  <a:close/>
                </a:path>
              </a:pathLst>
            </a:custGeom>
            <a:blipFill>
              <a:blip r:embed="rId5"/>
              <a:stretch>
                <a:fillRect l="0" t="-17921" r="0" b="-8340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10009" y="1577340"/>
            <a:ext cx="3910134" cy="5419309"/>
            <a:chOff x="0" y="0"/>
            <a:chExt cx="5212080" cy="7223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2080" cy="7223761"/>
            </a:xfrm>
            <a:custGeom>
              <a:avLst/>
              <a:gdLst/>
              <a:ahLst/>
              <a:cxnLst/>
              <a:rect r="r" b="b" t="t" l="l"/>
              <a:pathLst>
                <a:path h="7223761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7004304"/>
                  </a:lnTo>
                  <a:cubicBezTo>
                    <a:pt x="5212080" y="7125462"/>
                    <a:pt x="5113782" y="7223761"/>
                    <a:pt x="4992624" y="7223761"/>
                  </a:cubicBezTo>
                  <a:lnTo>
                    <a:pt x="219456" y="7223761"/>
                  </a:lnTo>
                  <a:cubicBezTo>
                    <a:pt x="9829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553534" y="1577340"/>
            <a:ext cx="3910134" cy="5419309"/>
            <a:chOff x="0" y="0"/>
            <a:chExt cx="5212080" cy="7223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12080" cy="7223761"/>
            </a:xfrm>
            <a:custGeom>
              <a:avLst/>
              <a:gdLst/>
              <a:ahLst/>
              <a:cxnLst/>
              <a:rect r="r" b="b" t="t" l="l"/>
              <a:pathLst>
                <a:path h="7223761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7004304"/>
                  </a:lnTo>
                  <a:cubicBezTo>
                    <a:pt x="5212080" y="7125462"/>
                    <a:pt x="5113782" y="7223761"/>
                    <a:pt x="4992624" y="7223761"/>
                  </a:cubicBezTo>
                  <a:lnTo>
                    <a:pt x="219456" y="7223761"/>
                  </a:lnTo>
                  <a:cubicBezTo>
                    <a:pt x="98298" y="7223760"/>
                    <a:pt x="0" y="7125462"/>
                    <a:pt x="0" y="70043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7339643"/>
            <a:ext cx="16642080" cy="2375857"/>
            <a:chOff x="0" y="0"/>
            <a:chExt cx="22183344" cy="31669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3344" cy="3166939"/>
            </a:xfrm>
            <a:custGeom>
              <a:avLst/>
              <a:gdLst/>
              <a:ahLst/>
              <a:cxnLst/>
              <a:rect r="r" b="b" t="t" l="l"/>
              <a:pathLst>
                <a:path h="3166939" w="22183344">
                  <a:moveTo>
                    <a:pt x="0" y="292333"/>
                  </a:moveTo>
                  <a:cubicBezTo>
                    <a:pt x="0" y="130941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130941"/>
                    <a:pt x="22183344" y="292333"/>
                  </a:cubicBezTo>
                  <a:lnTo>
                    <a:pt x="22183344" y="2874606"/>
                  </a:lnTo>
                  <a:cubicBezTo>
                    <a:pt x="22183344" y="3035998"/>
                    <a:pt x="22085046" y="3166939"/>
                    <a:pt x="21963887" y="3166939"/>
                  </a:cubicBezTo>
                  <a:lnTo>
                    <a:pt x="219456" y="3166939"/>
                  </a:lnTo>
                  <a:cubicBezTo>
                    <a:pt x="98298" y="3166939"/>
                    <a:pt x="0" y="3035998"/>
                    <a:pt x="0" y="28746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553" y="7339643"/>
            <a:ext cx="2606756" cy="1371977"/>
            <a:chOff x="0" y="0"/>
            <a:chExt cx="347472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4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39" t="0" r="-66734" b="-2999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4747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B"/>
                  </a:solidFill>
                  <a:latin typeface="Sarabun"/>
                  <a:ea typeface="Sarabun"/>
                  <a:cs typeface="Sarabun"/>
                  <a:sym typeface="Sarabun"/>
                </a:rPr>
                <a:t>สกัดคุณลักษณะรวม</a:t>
              </a:r>
            </a:p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1,176 มิติ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987954" y="7545440"/>
            <a:ext cx="4988665" cy="960384"/>
            <a:chOff x="0" y="0"/>
            <a:chExt cx="6649726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49726" cy="1280160"/>
            </a:xfrm>
            <a:custGeom>
              <a:avLst/>
              <a:gdLst/>
              <a:ahLst/>
              <a:cxnLst/>
              <a:rect r="r" b="b" t="t" l="l"/>
              <a:pathLst>
                <a:path h="1280160" w="6649726">
                  <a:moveTo>
                    <a:pt x="0" y="0"/>
                  </a:moveTo>
                  <a:lnTo>
                    <a:pt x="6649726" y="0"/>
                  </a:lnTo>
                  <a:lnTo>
                    <a:pt x="6649726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976619" y="7545440"/>
            <a:ext cx="4243525" cy="960384"/>
            <a:chOff x="0" y="0"/>
            <a:chExt cx="5656478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56478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56478">
                  <a:moveTo>
                    <a:pt x="0" y="0"/>
                  </a:moveTo>
                  <a:lnTo>
                    <a:pt x="5656478" y="0"/>
                  </a:lnTo>
                  <a:lnTo>
                    <a:pt x="5656478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864509" y="7545440"/>
            <a:ext cx="3033588" cy="960384"/>
            <a:chOff x="0" y="0"/>
            <a:chExt cx="4043673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43673" cy="1280160"/>
            </a:xfrm>
            <a:custGeom>
              <a:avLst/>
              <a:gdLst/>
              <a:ahLst/>
              <a:cxnLst/>
              <a:rect r="r" b="b" t="t" l="l"/>
              <a:pathLst>
                <a:path h="1280160" w="4043673">
                  <a:moveTo>
                    <a:pt x="0" y="0"/>
                  </a:moveTo>
                  <a:lnTo>
                    <a:pt x="4043673" y="0"/>
                  </a:lnTo>
                  <a:lnTo>
                    <a:pt x="4043673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-157789" b="-10866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043673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พิกเซล 784 มิติ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65041" y="7545440"/>
            <a:ext cx="2333291" cy="960384"/>
            <a:chOff x="0" y="0"/>
            <a:chExt cx="311020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10199" cy="1280160"/>
            </a:xfrm>
            <a:custGeom>
              <a:avLst/>
              <a:gdLst/>
              <a:ahLst/>
              <a:cxnLst/>
              <a:rect r="r" b="b" t="t" l="l"/>
              <a:pathLst>
                <a:path h="1280160" w="3110199">
                  <a:moveTo>
                    <a:pt x="0" y="0"/>
                  </a:moveTo>
                  <a:lnTo>
                    <a:pt x="3110199" y="0"/>
                  </a:lnTo>
                  <a:lnTo>
                    <a:pt x="311019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-67580" b="-293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1102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HOG 392 มิติ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21515" y="7545440"/>
            <a:ext cx="3740605" cy="960384"/>
            <a:chOff x="0" y="0"/>
            <a:chExt cx="4986103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86103" cy="1280160"/>
            </a:xfrm>
            <a:custGeom>
              <a:avLst/>
              <a:gdLst/>
              <a:ahLst/>
              <a:cxnLst/>
              <a:rect r="r" b="b" t="t" l="l"/>
              <a:pathLst>
                <a:path h="1280160" w="4986103">
                  <a:moveTo>
                    <a:pt x="0" y="0"/>
                  </a:moveTo>
                  <a:lnTo>
                    <a:pt x="4986103" y="0"/>
                  </a:lnTo>
                  <a:lnTo>
                    <a:pt x="4986103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453087" y="7696878"/>
            <a:ext cx="3277462" cy="657508"/>
            <a:chOff x="0" y="0"/>
            <a:chExt cx="4368749" cy="8764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68749" cy="876436"/>
            </a:xfrm>
            <a:custGeom>
              <a:avLst/>
              <a:gdLst/>
              <a:ahLst/>
              <a:cxnLst/>
              <a:rect r="r" b="b" t="t" l="l"/>
              <a:pathLst>
                <a:path h="876436" w="4368749">
                  <a:moveTo>
                    <a:pt x="0" y="0"/>
                  </a:moveTo>
                  <a:lnTo>
                    <a:pt x="4368749" y="0"/>
                  </a:lnTo>
                  <a:lnTo>
                    <a:pt x="4368749" y="876436"/>
                  </a:lnTo>
                  <a:lnTo>
                    <a:pt x="0" y="876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30" t="0" r="-32613" b="-17126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368749" cy="885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สำหรับ Dual-Ensemble MLP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4553" y="8476873"/>
            <a:ext cx="2606756" cy="1371977"/>
            <a:chOff x="0" y="0"/>
            <a:chExt cx="347472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74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39" t="0" r="-66734" b="-2999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4747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7B"/>
                  </a:solidFill>
                  <a:latin typeface="Sarabun"/>
                  <a:ea typeface="Sarabun"/>
                  <a:cs typeface="Sarabun"/>
                  <a:sym typeface="Sarabun"/>
                </a:rPr>
                <a:t>เทนเซอ</a:t>
              </a:r>
              <a:r>
                <a:rPr lang="en-US" sz="2100">
                  <a:solidFill>
                    <a:srgbClr val="5B6B7B"/>
                  </a:solidFill>
                  <a:latin typeface="Sarabun"/>
                  <a:ea typeface="Sarabun"/>
                  <a:cs typeface="Sarabun"/>
                  <a:sym typeface="Sarabun"/>
                </a:rPr>
                <a:t>ร์ภาพ 2 มิติ </a:t>
              </a:r>
            </a:p>
            <a:p>
              <a:pPr algn="l">
                <a:lnSpc>
                  <a:spcPts val="4920"/>
                </a:lnSpc>
              </a:pPr>
              <a:r>
                <a:rPr lang="en-US" sz="41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 × 28 × 28 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987954" y="8682670"/>
            <a:ext cx="9232190" cy="960384"/>
            <a:chOff x="0" y="0"/>
            <a:chExt cx="12306205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306205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306205">
                  <a:moveTo>
                    <a:pt x="0" y="0"/>
                  </a:moveTo>
                  <a:lnTo>
                    <a:pt x="12306205" y="0"/>
                  </a:lnTo>
                  <a:lnTo>
                    <a:pt x="12306205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CB6CE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75358" y="8682670"/>
            <a:ext cx="4112110" cy="960384"/>
            <a:chOff x="0" y="0"/>
            <a:chExt cx="5481307" cy="1280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1307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1307">
                  <a:moveTo>
                    <a:pt x="0" y="0"/>
                  </a:moveTo>
                  <a:lnTo>
                    <a:pt x="5481307" y="0"/>
                  </a:lnTo>
                  <a:lnTo>
                    <a:pt x="548130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-90176" b="-10866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5481307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2D Grayscale Tensor (28×28)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221515" y="8682670"/>
            <a:ext cx="3740605" cy="960384"/>
            <a:chOff x="0" y="0"/>
            <a:chExt cx="4986103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86103" cy="1280160"/>
            </a:xfrm>
            <a:custGeom>
              <a:avLst/>
              <a:gdLst/>
              <a:ahLst/>
              <a:cxnLst/>
              <a:rect r="r" b="b" t="t" l="l"/>
              <a:pathLst>
                <a:path h="1280160" w="4986103">
                  <a:moveTo>
                    <a:pt x="0" y="0"/>
                  </a:moveTo>
                  <a:lnTo>
                    <a:pt x="4986103" y="0"/>
                  </a:lnTo>
                  <a:lnTo>
                    <a:pt x="4986103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453087" y="8834108"/>
            <a:ext cx="3125930" cy="657508"/>
            <a:chOff x="0" y="0"/>
            <a:chExt cx="4166762" cy="8764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6762" cy="876436"/>
            </a:xfrm>
            <a:custGeom>
              <a:avLst/>
              <a:gdLst/>
              <a:ahLst/>
              <a:cxnLst/>
              <a:rect r="r" b="b" t="t" l="l"/>
              <a:pathLst>
                <a:path h="876436" w="4166762">
                  <a:moveTo>
                    <a:pt x="0" y="0"/>
                  </a:moveTo>
                  <a:lnTo>
                    <a:pt x="4166762" y="0"/>
                  </a:lnTo>
                  <a:lnTo>
                    <a:pt x="4166762" y="876436"/>
                  </a:lnTo>
                  <a:lnTo>
                    <a:pt x="0" y="876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71" t="0" r="-39041" b="-17126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166762" cy="885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สำหรับ Custom 2D CNN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4714523" y="1983742"/>
            <a:ext cx="1588155" cy="1588155"/>
          </a:xfrm>
          <a:custGeom>
            <a:avLst/>
            <a:gdLst/>
            <a:ahLst/>
            <a:cxnLst/>
            <a:rect r="r" b="b" t="t" l="l"/>
            <a:pathLst>
              <a:path h="1588155" w="1588155">
                <a:moveTo>
                  <a:pt x="0" y="0"/>
                </a:moveTo>
                <a:lnTo>
                  <a:pt x="1588155" y="0"/>
                </a:lnTo>
                <a:lnTo>
                  <a:pt x="1588155" y="1588155"/>
                </a:lnTo>
                <a:lnTo>
                  <a:pt x="0" y="15881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551920" y="1971144"/>
            <a:ext cx="2946121" cy="1613352"/>
          </a:xfrm>
          <a:custGeom>
            <a:avLst/>
            <a:gdLst/>
            <a:ahLst/>
            <a:cxnLst/>
            <a:rect r="r" b="b" t="t" l="l"/>
            <a:pathLst>
              <a:path h="1613352" w="2946121">
                <a:moveTo>
                  <a:pt x="0" y="0"/>
                </a:moveTo>
                <a:lnTo>
                  <a:pt x="2946121" y="0"/>
                </a:lnTo>
                <a:lnTo>
                  <a:pt x="2946121" y="1613352"/>
                </a:lnTo>
                <a:lnTo>
                  <a:pt x="0" y="16133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097355" y="3978300"/>
            <a:ext cx="3361343" cy="4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ขั้นที่ 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97355" y="4389893"/>
            <a:ext cx="3361343" cy="82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Homography Matrix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97355" y="5203554"/>
            <a:ext cx="3361343" cy="172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ปรับภาพกระดาษให้เป็นระนาบมาตรฐาน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0880" y="3978300"/>
            <a:ext cx="3361343" cy="41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ขั้นที่ 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340880" y="4389893"/>
            <a:ext cx="3361343" cy="82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Vertical Projection Profiling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40880" y="5203554"/>
            <a:ext cx="3361343" cy="95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แบ่งตาราง 20 × 20 ลด Grid Drift (แก้ความคลาดเคลื่อนได้ 10–12 พิกเซล)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479473" y="3991638"/>
            <a:ext cx="3361343" cy="2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ขั้นที่ 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584405" y="4389893"/>
            <a:ext cx="3361343" cy="82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Variance / Contrast Gate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84405" y="5203554"/>
            <a:ext cx="3361343" cy="172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คัดช่องว่างเมื่อ std &lt; 7.0 หรือ diff &lt; 35 โดยไม่ส่งเข้าโมเดล AI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724968" y="3991638"/>
            <a:ext cx="3361343" cy="2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ขั้นที่ 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827929" y="4389893"/>
            <a:ext cx="3361343" cy="82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Image Moments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827929" y="5203554"/>
            <a:ext cx="3361343" cy="172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จัดจุดศูนย์กลางของตัวอักษรให้อยู่ที่ (14, 14)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859773" y="3664208"/>
            <a:ext cx="929547" cy="24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ช่องว่าง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361923" y="3648644"/>
            <a:ext cx="938187" cy="24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มีตัวอักษร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685415" y="3732573"/>
            <a:ext cx="1646372" cy="33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(14, 14)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962120" y="9810750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243889"/>
            <a:chOff x="0" y="0"/>
            <a:chExt cx="22128480" cy="1658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8519"/>
            </a:xfrm>
            <a:custGeom>
              <a:avLst/>
              <a:gdLst/>
              <a:ahLst/>
              <a:cxnLst/>
              <a:rect r="r" b="b" t="t" l="l"/>
              <a:pathLst>
                <a:path h="165851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0" b="-2040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การ</a:t>
              </a: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แยกแยะตัวอักษรที่รูปทรงคล้ายกัน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851660"/>
            <a:ext cx="16431768" cy="7612380"/>
            <a:chOff x="0" y="0"/>
            <a:chExt cx="21909024" cy="10149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09024" cy="10149840"/>
            </a:xfrm>
            <a:custGeom>
              <a:avLst/>
              <a:gdLst/>
              <a:ahLst/>
              <a:cxnLst/>
              <a:rect r="r" b="b" t="t" l="l"/>
              <a:pathLst>
                <a:path h="10149840" w="21909024">
                  <a:moveTo>
                    <a:pt x="0" y="219456"/>
                  </a:moveTo>
                  <a:cubicBezTo>
                    <a:pt x="0" y="98298"/>
                    <a:pt x="216871" y="0"/>
                    <a:pt x="484177" y="0"/>
                  </a:cubicBezTo>
                  <a:lnTo>
                    <a:pt x="21424847" y="0"/>
                  </a:lnTo>
                  <a:cubicBezTo>
                    <a:pt x="21692153" y="0"/>
                    <a:pt x="21909024" y="98298"/>
                    <a:pt x="21909024" y="219456"/>
                  </a:cubicBezTo>
                  <a:lnTo>
                    <a:pt x="21909024" y="9930384"/>
                  </a:lnTo>
                  <a:cubicBezTo>
                    <a:pt x="21909024" y="10051542"/>
                    <a:pt x="21692153" y="10149840"/>
                    <a:pt x="21424847" y="10149840"/>
                  </a:cubicBezTo>
                  <a:lnTo>
                    <a:pt x="484177" y="10149840"/>
                  </a:lnTo>
                  <a:cubicBezTo>
                    <a:pt x="216871" y="10149840"/>
                    <a:pt x="0" y="10051542"/>
                    <a:pt x="0" y="99303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17923" y="2122329"/>
            <a:ext cx="538980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กฎโครงสร้างแยกตัวอักษรที่คล้ายกัน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96476" y="3213925"/>
            <a:ext cx="1577340" cy="850392"/>
            <a:chOff x="0" y="0"/>
            <a:chExt cx="210312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6476" y="3213925"/>
            <a:ext cx="1577340" cy="850392"/>
            <a:chOff x="0" y="0"/>
            <a:chExt cx="2103120" cy="11338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B / R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41878" y="3344227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ตรวจโครงสร้างขาช่วงล่าง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41878" y="3695890"/>
            <a:ext cx="493776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ระยะห่างขาคู่ล่าง </a:t>
            </a: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max_gap ≥ 9 px (R) · ขาโค้งปิด (B)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96476" y="5365147"/>
            <a:ext cx="1577340" cy="850392"/>
            <a:chOff x="0" y="0"/>
            <a:chExt cx="2103120" cy="1133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96476" y="5365147"/>
            <a:ext cx="1577340" cy="850392"/>
            <a:chOff x="0" y="0"/>
            <a:chExt cx="2103120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F / 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441878" y="5477066"/>
            <a:ext cx="49377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ตรวจระยะเอื้อมของแขนล่าง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41878" y="5865495"/>
            <a:ext cx="510008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ความยาวขีดล่างเทียบขีดบน</a:t>
            </a: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 ≥ 70% (E) · ไม่มีขีดล่าง (F)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96476" y="7543800"/>
            <a:ext cx="1577340" cy="850392"/>
            <a:chOff x="0" y="0"/>
            <a:chExt cx="2103120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96476" y="7543800"/>
            <a:ext cx="1577340" cy="850392"/>
            <a:chOff x="0" y="0"/>
            <a:chExt cx="2103120" cy="113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 / D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441878" y="7656862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ตรวจโครงสร้างเส้นสันหลัง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41878" y="8043005"/>
            <a:ext cx="51892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ความตรงของเส้นตั้งฝั่งซ้าย </a:t>
            </a: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spine ≥ 85% (D) · โค้งมน (C)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44584" y="3213925"/>
            <a:ext cx="1577340" cy="850392"/>
            <a:chOff x="0" y="0"/>
            <a:chExt cx="2103120" cy="1133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244584" y="3213925"/>
            <a:ext cx="1577340" cy="850392"/>
            <a:chOff x="0" y="0"/>
            <a:chExt cx="2103120" cy="1133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 / O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212830" y="3394138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ตรวจการปิดวงกลม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12830" y="3759517"/>
            <a:ext cx="5143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Morphological Loop ปิดสนิท (O) · มีช่องเปิดฝั่งขวา (C)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244584" y="5365147"/>
            <a:ext cx="1577340" cy="850392"/>
            <a:chOff x="0" y="0"/>
            <a:chExt cx="2103120" cy="1133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20240" y="0"/>
                  </a:lnTo>
                  <a:cubicBezTo>
                    <a:pt x="2021205" y="0"/>
                    <a:pt x="2103120" y="81915"/>
                    <a:pt x="2103120" y="182880"/>
                  </a:cubicBezTo>
                  <a:lnTo>
                    <a:pt x="2103120" y="950976"/>
                  </a:lnTo>
                  <a:cubicBezTo>
                    <a:pt x="2103120" y="1051941"/>
                    <a:pt x="2021205" y="1133856"/>
                    <a:pt x="1920240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244584" y="5365147"/>
            <a:ext cx="1577340" cy="850392"/>
            <a:chOff x="0" y="0"/>
            <a:chExt cx="2103120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03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72" t="0" r="-1917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031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U / V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212830" y="5446585"/>
            <a:ext cx="49377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B2545"/>
                </a:solidFill>
                <a:latin typeface="Sarabun Bold"/>
                <a:ea typeface="Sarabun Bold"/>
                <a:cs typeface="Sarabun Bold"/>
                <a:sym typeface="Sarabun Bold"/>
              </a:rPr>
              <a:t>แยกจากปลายแหลมและความโค้งมน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12830" y="5799010"/>
            <a:ext cx="49377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ปลายแหลม ≤ 3px (V) · โค้งมน ≥ 40% (U)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5601" y="391658"/>
            <a:ext cx="16436340" cy="1859090"/>
            <a:chOff x="0" y="0"/>
            <a:chExt cx="21915120" cy="24787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15120" cy="2478787"/>
            </a:xfrm>
            <a:custGeom>
              <a:avLst/>
              <a:gdLst/>
              <a:ahLst/>
              <a:cxnLst/>
              <a:rect r="r" b="b" t="t" l="l"/>
              <a:pathLst>
                <a:path h="2478787" w="21915120">
                  <a:moveTo>
                    <a:pt x="0" y="0"/>
                  </a:moveTo>
                  <a:lnTo>
                    <a:pt x="21915120" y="0"/>
                  </a:lnTo>
                  <a:lnTo>
                    <a:pt x="21915120" y="2478787"/>
                  </a:lnTo>
                  <a:lnTo>
                    <a:pt x="0" y="24787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434" r="-973" b="-1034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15120" cy="2478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จุดเด่นที่ 1: ระบบตรวจจับ</a:t>
              </a: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ขอบตารางโดยตรง แม้แถบมาร์กเกอร์ถูกบังหรือขาดหาย (Marker-Independent Grid Locking)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8723376"/>
            <a:ext cx="521208" cy="521208"/>
            <a:chOff x="0" y="0"/>
            <a:chExt cx="694944" cy="694944"/>
          </a:xfrm>
        </p:grpSpPr>
        <p:sp>
          <p:nvSpPr>
            <p:cNvPr name="Freeform 8" id="8" descr="icon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55648" y="8513462"/>
            <a:ext cx="14285632" cy="1335388"/>
            <a:chOff x="0" y="0"/>
            <a:chExt cx="51709053" cy="4833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709055" cy="4833643"/>
            </a:xfrm>
            <a:custGeom>
              <a:avLst/>
              <a:gdLst/>
              <a:ahLst/>
              <a:cxnLst/>
              <a:rect r="r" b="b" t="t" l="l"/>
              <a:pathLst>
                <a:path h="4833643" w="51709055">
                  <a:moveTo>
                    <a:pt x="0" y="104511"/>
                  </a:moveTo>
                  <a:cubicBezTo>
                    <a:pt x="0" y="46812"/>
                    <a:pt x="511853" y="0"/>
                    <a:pt x="1142742" y="0"/>
                  </a:cubicBezTo>
                  <a:lnTo>
                    <a:pt x="50566312" y="0"/>
                  </a:lnTo>
                  <a:cubicBezTo>
                    <a:pt x="51197201" y="0"/>
                    <a:pt x="51709055" y="46812"/>
                    <a:pt x="51709055" y="104511"/>
                  </a:cubicBezTo>
                  <a:lnTo>
                    <a:pt x="51709055" y="4729131"/>
                  </a:lnTo>
                  <a:cubicBezTo>
                    <a:pt x="51709055" y="4786830"/>
                    <a:pt x="51197201" y="4833643"/>
                    <a:pt x="50566312" y="4833643"/>
                  </a:cubicBezTo>
                  <a:lnTo>
                    <a:pt x="1142742" y="4833643"/>
                  </a:lnTo>
                  <a:cubicBezTo>
                    <a:pt x="511853" y="4833643"/>
                    <a:pt x="0" y="4786830"/>
                    <a:pt x="0" y="47291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57173" y="8723376"/>
            <a:ext cx="14173196" cy="904494"/>
            <a:chOff x="0" y="0"/>
            <a:chExt cx="18897595" cy="12059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897594" cy="1205992"/>
            </a:xfrm>
            <a:custGeom>
              <a:avLst/>
              <a:gdLst/>
              <a:ahLst/>
              <a:cxnLst/>
              <a:rect r="r" b="b" t="t" l="l"/>
              <a:pathLst>
                <a:path h="1205992" w="18897594">
                  <a:moveTo>
                    <a:pt x="0" y="0"/>
                  </a:moveTo>
                  <a:lnTo>
                    <a:pt x="18897594" y="0"/>
                  </a:lnTo>
                  <a:lnTo>
                    <a:pt x="18897594" y="1205992"/>
                  </a:lnTo>
                  <a:lnTo>
                    <a:pt x="0" y="1205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153" r="47741" b="-1429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8897595" cy="1215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ระบบทั่วไปจะตรวจไม่ได</a:t>
              </a:r>
              <a:r>
                <a:rPr lang="en-US" sz="21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้ทันทีหากมาร์กเกอร์ 4 มุมถูกนิ้วบัง หรือ ขาดหาย แต่ระบบของเราตรวจจับโครงสร้างเส้นกรอบตาราง 20×20 โดยตรง ทำให้ตัดส่วนหัวกระดาษ ปรับระนาบภาพถือถ่าย และ อ่านคำตอบในแผ่น test ได้แม่นยำถึง 99.25% (397 / 400 ช่อง)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057173" y="2250749"/>
            <a:ext cx="13984106" cy="5894463"/>
          </a:xfrm>
          <a:custGeom>
            <a:avLst/>
            <a:gdLst/>
            <a:ahLst/>
            <a:cxnLst/>
            <a:rect r="r" b="b" t="t" l="l"/>
            <a:pathLst>
              <a:path h="5894463" w="13984106">
                <a:moveTo>
                  <a:pt x="0" y="0"/>
                </a:moveTo>
                <a:lnTo>
                  <a:pt x="13984107" y="0"/>
                </a:lnTo>
                <a:lnTo>
                  <a:pt x="13984107" y="5894463"/>
                </a:lnTo>
                <a:lnTo>
                  <a:pt x="0" y="58944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5601" y="391658"/>
            <a:ext cx="16436340" cy="1859090"/>
            <a:chOff x="0" y="0"/>
            <a:chExt cx="21915120" cy="24787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15120" cy="2478787"/>
            </a:xfrm>
            <a:custGeom>
              <a:avLst/>
              <a:gdLst/>
              <a:ahLst/>
              <a:cxnLst/>
              <a:rect r="r" b="b" t="t" l="l"/>
              <a:pathLst>
                <a:path h="2478787" w="21915120">
                  <a:moveTo>
                    <a:pt x="0" y="0"/>
                  </a:moveTo>
                  <a:lnTo>
                    <a:pt x="21915120" y="0"/>
                  </a:lnTo>
                  <a:lnTo>
                    <a:pt x="21915120" y="2478787"/>
                  </a:lnTo>
                  <a:lnTo>
                    <a:pt x="0" y="24787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434" r="-973" b="-1034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15120" cy="2478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จุดเด่นที่ 2: ความทนทาน</a:t>
              </a:r>
              <a:r>
                <a:rPr lang="en-US" sz="45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ต่อลายมือเขียนชิดขอบหรือทับเส้นตาราง (Overlapping Border Recovery)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8723376"/>
            <a:ext cx="521208" cy="521208"/>
            <a:chOff x="0" y="0"/>
            <a:chExt cx="694944" cy="694944"/>
          </a:xfrm>
        </p:grpSpPr>
        <p:sp>
          <p:nvSpPr>
            <p:cNvPr name="Freeform 8" id="8" descr="icon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543406" y="2250749"/>
            <a:ext cx="9200731" cy="4395905"/>
          </a:xfrm>
          <a:custGeom>
            <a:avLst/>
            <a:gdLst/>
            <a:ahLst/>
            <a:cxnLst/>
            <a:rect r="r" b="b" t="t" l="l"/>
            <a:pathLst>
              <a:path h="4395905" w="9200731">
                <a:moveTo>
                  <a:pt x="0" y="0"/>
                </a:moveTo>
                <a:lnTo>
                  <a:pt x="9200731" y="0"/>
                </a:lnTo>
                <a:lnTo>
                  <a:pt x="9200731" y="4395904"/>
                </a:lnTo>
                <a:lnTo>
                  <a:pt x="0" y="4395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34440" y="6794603"/>
            <a:ext cx="16127501" cy="2772948"/>
            <a:chOff x="0" y="0"/>
            <a:chExt cx="21503335" cy="369726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239067"/>
              <a:ext cx="5132586" cy="3458197"/>
              <a:chOff x="0" y="0"/>
              <a:chExt cx="13933641" cy="938810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933643" cy="9388108"/>
              </a:xfrm>
              <a:custGeom>
                <a:avLst/>
                <a:gdLst/>
                <a:ahLst/>
                <a:cxnLst/>
                <a:rect r="r" b="b" t="t" l="l"/>
                <a:pathLst>
                  <a:path h="9388108" w="13933643">
                    <a:moveTo>
                      <a:pt x="0" y="202986"/>
                    </a:moveTo>
                    <a:cubicBezTo>
                      <a:pt x="0" y="90921"/>
                      <a:pt x="137925" y="0"/>
                      <a:pt x="307926" y="0"/>
                    </a:cubicBezTo>
                    <a:lnTo>
                      <a:pt x="13625716" y="0"/>
                    </a:lnTo>
                    <a:cubicBezTo>
                      <a:pt x="13795716" y="0"/>
                      <a:pt x="13933643" y="90921"/>
                      <a:pt x="13933643" y="202986"/>
                    </a:cubicBezTo>
                    <a:lnTo>
                      <a:pt x="13933643" y="9185122"/>
                    </a:lnTo>
                    <a:cubicBezTo>
                      <a:pt x="13933643" y="9297187"/>
                      <a:pt x="13795716" y="9388108"/>
                      <a:pt x="13625716" y="9388108"/>
                    </a:cubicBezTo>
                    <a:lnTo>
                      <a:pt x="307926" y="9388108"/>
                    </a:lnTo>
                    <a:cubicBezTo>
                      <a:pt x="137925" y="9388108"/>
                      <a:pt x="0" y="9297188"/>
                      <a:pt x="0" y="9185122"/>
                    </a:cubicBezTo>
                    <a:close/>
                  </a:path>
                </a:pathLst>
              </a:custGeom>
              <a:solidFill>
                <a:srgbClr val="FAFAF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4423" y="1106099"/>
              <a:ext cx="4823739" cy="2320883"/>
              <a:chOff x="0" y="0"/>
              <a:chExt cx="4823739" cy="232088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823739" cy="2320883"/>
              </a:xfrm>
              <a:custGeom>
                <a:avLst/>
                <a:gdLst/>
                <a:ahLst/>
                <a:cxnLst/>
                <a:rect r="r" b="b" t="t" l="l"/>
                <a:pathLst>
                  <a:path h="2320883" w="4823739">
                    <a:moveTo>
                      <a:pt x="0" y="0"/>
                    </a:moveTo>
                    <a:lnTo>
                      <a:pt x="4823739" y="0"/>
                    </a:lnTo>
                    <a:lnTo>
                      <a:pt x="4823739" y="2320883"/>
                    </a:lnTo>
                    <a:lnTo>
                      <a:pt x="0" y="2320883"/>
                    </a:lnTo>
                    <a:close/>
                  </a:path>
                </a:pathLst>
              </a:custGeom>
              <a:solidFill>
                <a:srgbClr val="FAFAF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4823739" cy="232088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ผู้เข้าสอบมักเขียนตัวอ</a:t>
                </a: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ักษรชิดขอบ ลากหางยาวทะลุเส้นตาราง (เช่น G, M, Q, R) หรือมีเส้นจากช่องข้างเคียงล้ำเข้ามา (เช่น H) ซึ่งทำให้ OCR ทั่วไปอ่านผิดพลาด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5132586" cy="1150079"/>
              <a:chOff x="0" y="0"/>
              <a:chExt cx="1013844" cy="22717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13844" cy="227176"/>
              </a:xfrm>
              <a:custGeom>
                <a:avLst/>
                <a:gdLst/>
                <a:ahLst/>
                <a:cxnLst/>
                <a:rect r="r" b="b" t="t" l="l"/>
                <a:pathLst>
                  <a:path h="227176" w="1013844">
                    <a:moveTo>
                      <a:pt x="58324" y="0"/>
                    </a:moveTo>
                    <a:lnTo>
                      <a:pt x="955520" y="0"/>
                    </a:lnTo>
                    <a:cubicBezTo>
                      <a:pt x="987731" y="0"/>
                      <a:pt x="1013844" y="26113"/>
                      <a:pt x="1013844" y="58324"/>
                    </a:cubicBezTo>
                    <a:lnTo>
                      <a:pt x="1013844" y="168852"/>
                    </a:lnTo>
                    <a:cubicBezTo>
                      <a:pt x="1013844" y="201063"/>
                      <a:pt x="987731" y="227176"/>
                      <a:pt x="955520" y="227176"/>
                    </a:cubicBezTo>
                    <a:lnTo>
                      <a:pt x="58324" y="227176"/>
                    </a:lnTo>
                    <a:cubicBezTo>
                      <a:pt x="26113" y="227176"/>
                      <a:pt x="0" y="201063"/>
                      <a:pt x="0" y="168852"/>
                    </a:cubicBezTo>
                    <a:lnTo>
                      <a:pt x="0" y="58324"/>
                    </a:lnTo>
                    <a:cubicBezTo>
                      <a:pt x="0" y="26113"/>
                      <a:pt x="26113" y="0"/>
                      <a:pt x="58324" y="0"/>
                    </a:cubicBezTo>
                    <a:close/>
                  </a:path>
                </a:pathLst>
              </a:custGeom>
              <a:solidFill>
                <a:srgbClr val="FFE7C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9525"/>
                <a:ext cx="1013844" cy="217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54423" y="180332"/>
              <a:ext cx="4823739" cy="789414"/>
              <a:chOff x="0" y="0"/>
              <a:chExt cx="4823739" cy="78941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823739" cy="789414"/>
              </a:xfrm>
              <a:custGeom>
                <a:avLst/>
                <a:gdLst/>
                <a:ahLst/>
                <a:cxnLst/>
                <a:rect r="r" b="b" t="t" l="l"/>
                <a:pathLst>
                  <a:path h="789414" w="4823739">
                    <a:moveTo>
                      <a:pt x="0" y="0"/>
                    </a:moveTo>
                    <a:lnTo>
                      <a:pt x="4823739" y="0"/>
                    </a:lnTo>
                    <a:lnTo>
                      <a:pt x="4823739" y="789414"/>
                    </a:lnTo>
                    <a:lnTo>
                      <a:pt x="0" y="7894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6340" r="-104727" b="-271172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4823739" cy="7894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ป</a:t>
                </a: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ัญหาที่พบบ่อยในการสอบจริง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654839" y="316878"/>
              <a:ext cx="5781872" cy="3380386"/>
              <a:chOff x="0" y="0"/>
              <a:chExt cx="15696285" cy="917687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696285" cy="9176872"/>
              </a:xfrm>
              <a:custGeom>
                <a:avLst/>
                <a:gdLst/>
                <a:ahLst/>
                <a:cxnLst/>
                <a:rect r="r" b="b" t="t" l="l"/>
                <a:pathLst>
                  <a:path h="9176872" w="15696285">
                    <a:moveTo>
                      <a:pt x="0" y="198419"/>
                    </a:moveTo>
                    <a:cubicBezTo>
                      <a:pt x="0" y="88875"/>
                      <a:pt x="155373" y="0"/>
                      <a:pt x="346879" y="0"/>
                    </a:cubicBezTo>
                    <a:lnTo>
                      <a:pt x="15349406" y="0"/>
                    </a:lnTo>
                    <a:cubicBezTo>
                      <a:pt x="15540912" y="0"/>
                      <a:pt x="15696285" y="88875"/>
                      <a:pt x="15696285" y="198419"/>
                    </a:cubicBezTo>
                    <a:lnTo>
                      <a:pt x="15696285" y="8978453"/>
                    </a:lnTo>
                    <a:cubicBezTo>
                      <a:pt x="15696285" y="9087996"/>
                      <a:pt x="15540912" y="9176872"/>
                      <a:pt x="15349406" y="9176872"/>
                    </a:cubicBezTo>
                    <a:lnTo>
                      <a:pt x="346879" y="9176872"/>
                    </a:lnTo>
                    <a:cubicBezTo>
                      <a:pt x="155373" y="9176872"/>
                      <a:pt x="0" y="9087997"/>
                      <a:pt x="0" y="897845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7654839" y="0"/>
              <a:ext cx="5781872" cy="1150079"/>
              <a:chOff x="0" y="0"/>
              <a:chExt cx="1142098" cy="22717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42098" cy="227176"/>
              </a:xfrm>
              <a:custGeom>
                <a:avLst/>
                <a:gdLst/>
                <a:ahLst/>
                <a:cxnLst/>
                <a:rect r="r" b="b" t="t" l="l"/>
                <a:pathLst>
                  <a:path h="227176" w="1142098">
                    <a:moveTo>
                      <a:pt x="60701" y="0"/>
                    </a:moveTo>
                    <a:lnTo>
                      <a:pt x="1081397" y="0"/>
                    </a:lnTo>
                    <a:cubicBezTo>
                      <a:pt x="1097496" y="0"/>
                      <a:pt x="1112936" y="6395"/>
                      <a:pt x="1124319" y="17779"/>
                    </a:cubicBezTo>
                    <a:cubicBezTo>
                      <a:pt x="1135703" y="29163"/>
                      <a:pt x="1142098" y="44602"/>
                      <a:pt x="1142098" y="60701"/>
                    </a:cubicBezTo>
                    <a:lnTo>
                      <a:pt x="1142098" y="166475"/>
                    </a:lnTo>
                    <a:cubicBezTo>
                      <a:pt x="1142098" y="182574"/>
                      <a:pt x="1135703" y="198013"/>
                      <a:pt x="1124319" y="209397"/>
                    </a:cubicBezTo>
                    <a:cubicBezTo>
                      <a:pt x="1112936" y="220781"/>
                      <a:pt x="1097496" y="227176"/>
                      <a:pt x="1081397" y="227176"/>
                    </a:cubicBezTo>
                    <a:lnTo>
                      <a:pt x="60701" y="227176"/>
                    </a:lnTo>
                    <a:cubicBezTo>
                      <a:pt x="44602" y="227176"/>
                      <a:pt x="29163" y="220781"/>
                      <a:pt x="17779" y="209397"/>
                    </a:cubicBezTo>
                    <a:cubicBezTo>
                      <a:pt x="6395" y="198013"/>
                      <a:pt x="0" y="182574"/>
                      <a:pt x="0" y="166475"/>
                    </a:cubicBezTo>
                    <a:lnTo>
                      <a:pt x="0" y="60701"/>
                    </a:lnTo>
                    <a:cubicBezTo>
                      <a:pt x="0" y="44602"/>
                      <a:pt x="6395" y="29163"/>
                      <a:pt x="17779" y="17779"/>
                    </a:cubicBezTo>
                    <a:cubicBezTo>
                      <a:pt x="29163" y="6395"/>
                      <a:pt x="44602" y="0"/>
                      <a:pt x="60701" y="0"/>
                    </a:cubicBezTo>
                    <a:close/>
                  </a:path>
                </a:pathLst>
              </a:custGeom>
              <a:solidFill>
                <a:srgbClr val="FFD9C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9525"/>
                <a:ext cx="1142098" cy="217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26084" y="180332"/>
              <a:ext cx="4347596" cy="789414"/>
              <a:chOff x="0" y="0"/>
              <a:chExt cx="4347596" cy="78941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347596" cy="789414"/>
              </a:xfrm>
              <a:custGeom>
                <a:avLst/>
                <a:gdLst/>
                <a:ahLst/>
                <a:cxnLst/>
                <a:rect r="r" b="b" t="t" l="l"/>
                <a:pathLst>
                  <a:path h="789414" w="4347596">
                    <a:moveTo>
                      <a:pt x="0" y="0"/>
                    </a:moveTo>
                    <a:lnTo>
                      <a:pt x="4347596" y="0"/>
                    </a:lnTo>
                    <a:lnTo>
                      <a:pt x="4347596" y="789414"/>
                    </a:lnTo>
                    <a:lnTo>
                      <a:pt x="0" y="7894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6340" r="-127148" b="-271172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4347596" cy="7894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การสกัดเฉพาะเนื้อตัวอักษร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8004048" y="1280935"/>
              <a:ext cx="5191668" cy="2320883"/>
              <a:chOff x="0" y="0"/>
              <a:chExt cx="5191668" cy="232088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191668" cy="2320883"/>
              </a:xfrm>
              <a:custGeom>
                <a:avLst/>
                <a:gdLst/>
                <a:ahLst/>
                <a:cxnLst/>
                <a:rect r="r" b="b" t="t" l="l"/>
                <a:pathLst>
                  <a:path h="2320883" w="5191668">
                    <a:moveTo>
                      <a:pt x="0" y="0"/>
                    </a:moveTo>
                    <a:lnTo>
                      <a:pt x="5191668" y="0"/>
                    </a:lnTo>
                    <a:lnTo>
                      <a:pt x="5191668" y="2320883"/>
                    </a:lnTo>
                    <a:lnTo>
                      <a:pt x="0" y="232088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571" r="-90218" b="-26248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5191668" cy="232088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ระบบตั</a:t>
                </a: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ดขอบใน (pad_x=5, pad_y=4) ร่วมกับการกรอง Connected Components เพื่อลบเส้นตารางออก เหลือเฉพาะเส้นหมึกของตัวอักษรแล้วจัดกึ่งกลาง 28×28 px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5721463" y="575040"/>
              <a:ext cx="5781872" cy="3052799"/>
              <a:chOff x="0" y="0"/>
              <a:chExt cx="15696285" cy="828755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5696285" cy="8287558"/>
              </a:xfrm>
              <a:custGeom>
                <a:avLst/>
                <a:gdLst/>
                <a:ahLst/>
                <a:cxnLst/>
                <a:rect r="r" b="b" t="t" l="l"/>
                <a:pathLst>
                  <a:path h="8287558" w="15696285">
                    <a:moveTo>
                      <a:pt x="0" y="179190"/>
                    </a:moveTo>
                    <a:cubicBezTo>
                      <a:pt x="0" y="80262"/>
                      <a:pt x="155373" y="0"/>
                      <a:pt x="346879" y="0"/>
                    </a:cubicBezTo>
                    <a:lnTo>
                      <a:pt x="15349406" y="0"/>
                    </a:lnTo>
                    <a:cubicBezTo>
                      <a:pt x="15540912" y="0"/>
                      <a:pt x="15696285" y="80262"/>
                      <a:pt x="15696285" y="179190"/>
                    </a:cubicBezTo>
                    <a:lnTo>
                      <a:pt x="15696285" y="8108367"/>
                    </a:lnTo>
                    <a:cubicBezTo>
                      <a:pt x="15696285" y="8207295"/>
                      <a:pt x="15540912" y="8287558"/>
                      <a:pt x="15349406" y="8287558"/>
                    </a:cubicBezTo>
                    <a:lnTo>
                      <a:pt x="346879" y="8287558"/>
                    </a:lnTo>
                    <a:cubicBezTo>
                      <a:pt x="155373" y="8287558"/>
                      <a:pt x="0" y="8207296"/>
                      <a:pt x="0" y="810836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721463" y="0"/>
              <a:ext cx="5781872" cy="1150079"/>
              <a:chOff x="0" y="0"/>
              <a:chExt cx="1142098" cy="22717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142098" cy="227176"/>
              </a:xfrm>
              <a:custGeom>
                <a:avLst/>
                <a:gdLst/>
                <a:ahLst/>
                <a:cxnLst/>
                <a:rect r="r" b="b" t="t" l="l"/>
                <a:pathLst>
                  <a:path h="227176" w="1142098">
                    <a:moveTo>
                      <a:pt x="60701" y="0"/>
                    </a:moveTo>
                    <a:lnTo>
                      <a:pt x="1081397" y="0"/>
                    </a:lnTo>
                    <a:cubicBezTo>
                      <a:pt x="1097496" y="0"/>
                      <a:pt x="1112936" y="6395"/>
                      <a:pt x="1124319" y="17779"/>
                    </a:cubicBezTo>
                    <a:cubicBezTo>
                      <a:pt x="1135703" y="29163"/>
                      <a:pt x="1142098" y="44602"/>
                      <a:pt x="1142098" y="60701"/>
                    </a:cubicBezTo>
                    <a:lnTo>
                      <a:pt x="1142098" y="166475"/>
                    </a:lnTo>
                    <a:cubicBezTo>
                      <a:pt x="1142098" y="182574"/>
                      <a:pt x="1135703" y="198013"/>
                      <a:pt x="1124319" y="209397"/>
                    </a:cubicBezTo>
                    <a:cubicBezTo>
                      <a:pt x="1112936" y="220781"/>
                      <a:pt x="1097496" y="227176"/>
                      <a:pt x="1081397" y="227176"/>
                    </a:cubicBezTo>
                    <a:lnTo>
                      <a:pt x="60701" y="227176"/>
                    </a:lnTo>
                    <a:cubicBezTo>
                      <a:pt x="44602" y="227176"/>
                      <a:pt x="29163" y="220781"/>
                      <a:pt x="17779" y="209397"/>
                    </a:cubicBezTo>
                    <a:cubicBezTo>
                      <a:pt x="6395" y="198013"/>
                      <a:pt x="0" y="182574"/>
                      <a:pt x="0" y="166475"/>
                    </a:cubicBezTo>
                    <a:lnTo>
                      <a:pt x="0" y="60701"/>
                    </a:lnTo>
                    <a:cubicBezTo>
                      <a:pt x="0" y="44602"/>
                      <a:pt x="6395" y="29163"/>
                      <a:pt x="17779" y="17779"/>
                    </a:cubicBezTo>
                    <a:cubicBezTo>
                      <a:pt x="29163" y="6395"/>
                      <a:pt x="44602" y="0"/>
                      <a:pt x="60701" y="0"/>
                    </a:cubicBezTo>
                    <a:close/>
                  </a:path>
                </a:pathLst>
              </a:custGeom>
              <a:solidFill>
                <a:srgbClr val="FFC2E8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9525"/>
                <a:ext cx="1142098" cy="217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6726011" y="180332"/>
              <a:ext cx="3838016" cy="789414"/>
              <a:chOff x="0" y="0"/>
              <a:chExt cx="3838016" cy="78941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838017" cy="789414"/>
              </a:xfrm>
              <a:custGeom>
                <a:avLst/>
                <a:gdLst/>
                <a:ahLst/>
                <a:cxnLst/>
                <a:rect r="r" b="b" t="t" l="l"/>
                <a:pathLst>
                  <a:path h="789414" w="3838017">
                    <a:moveTo>
                      <a:pt x="0" y="0"/>
                    </a:moveTo>
                    <a:lnTo>
                      <a:pt x="3838017" y="0"/>
                    </a:lnTo>
                    <a:lnTo>
                      <a:pt x="3838017" y="789414"/>
                    </a:lnTo>
                    <a:lnTo>
                      <a:pt x="0" y="7894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6340" r="-157307" b="-271172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0"/>
                <a:ext cx="3838016" cy="7894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คว</a:t>
                </a:r>
                <a:r>
                  <a:rPr lang="en-US" sz="22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ามทนทานของโมเดล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5896068" y="1280935"/>
              <a:ext cx="5432663" cy="1914483"/>
              <a:chOff x="0" y="0"/>
              <a:chExt cx="5432663" cy="191448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432663" cy="1914483"/>
              </a:xfrm>
              <a:custGeom>
                <a:avLst/>
                <a:gdLst/>
                <a:ahLst/>
                <a:cxnLst/>
                <a:rect r="r" b="b" t="t" l="l"/>
                <a:pathLst>
                  <a:path h="1914483" w="5432663">
                    <a:moveTo>
                      <a:pt x="0" y="0"/>
                    </a:moveTo>
                    <a:lnTo>
                      <a:pt x="5432663" y="0"/>
                    </a:lnTo>
                    <a:lnTo>
                      <a:pt x="5432663" y="1914483"/>
                    </a:lnTo>
                    <a:lnTo>
                      <a:pt x="0" y="191448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971" r="-81780" b="-53048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0"/>
                <a:ext cx="5432663" cy="191448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ผสา</a:t>
                </a:r>
                <a:r>
                  <a:rPr lang="en-US" sz="20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น Focal Loss (Lin, 2017) และ Random Stroke Erasing (Zhong, 2020) ช่วยให้โมเดลจำแนกตัวอักษรที่เขียนทับเส้นได้ถูกต้องแม่นยำทุกรูปแบบ</a:t>
                </a:r>
              </a:p>
            </p:txBody>
          </p:sp>
        </p:grpSp>
      </p:grpSp>
      <p:sp>
        <p:nvSpPr>
          <p:cNvPr name="TextBox 44" id="44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405042"/>
            <a:ext cx="16642080" cy="1243889"/>
            <a:chOff x="0" y="0"/>
            <a:chExt cx="22128480" cy="16539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3962"/>
            </a:xfrm>
            <a:custGeom>
              <a:avLst/>
              <a:gdLst/>
              <a:ahLst/>
              <a:cxnLst/>
              <a:rect r="r" b="b" t="t" l="l"/>
              <a:pathLst>
                <a:path h="165396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3962"/>
                  </a:lnTo>
                  <a:lnTo>
                    <a:pt x="0" y="1653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463" r="0" b="-2049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4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ผลการทดลองรายแผ่น (Per-Sheet Accuracy Breakdown)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416697" y="2431773"/>
            <a:ext cx="13454605" cy="5423454"/>
          </a:xfrm>
          <a:custGeom>
            <a:avLst/>
            <a:gdLst/>
            <a:ahLst/>
            <a:cxnLst/>
            <a:rect r="r" b="b" t="t" l="l"/>
            <a:pathLst>
              <a:path h="5423454" w="13454605">
                <a:moveTo>
                  <a:pt x="0" y="0"/>
                </a:moveTo>
                <a:lnTo>
                  <a:pt x="13454606" y="0"/>
                </a:lnTo>
                <a:lnTo>
                  <a:pt x="13454606" y="5423454"/>
                </a:lnTo>
                <a:lnTo>
                  <a:pt x="0" y="54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1648931"/>
            <a:ext cx="14116959" cy="672184"/>
            <a:chOff x="0" y="0"/>
            <a:chExt cx="18770901" cy="8937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770901" cy="893784"/>
            </a:xfrm>
            <a:custGeom>
              <a:avLst/>
              <a:gdLst/>
              <a:ahLst/>
              <a:cxnLst/>
              <a:rect r="r" b="b" t="t" l="l"/>
              <a:pathLst>
                <a:path h="893784" w="18770901">
                  <a:moveTo>
                    <a:pt x="0" y="0"/>
                  </a:moveTo>
                  <a:lnTo>
                    <a:pt x="18770901" y="0"/>
                  </a:lnTo>
                  <a:lnTo>
                    <a:pt x="18770901" y="893784"/>
                  </a:lnTo>
                  <a:lnTo>
                    <a:pt x="0" y="893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569" r="-17887" b="-46425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770901" cy="8937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ทดสอบกับกระดาษคำตอบจริง 12 แผ่น (แผ่นละ 20 ข้อ × 20 ช่อง = 400 ช่อง · รวมทั้งหมด 4,800 ช่อง)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8206740"/>
            <a:ext cx="16184880" cy="1508760"/>
            <a:chOff x="0" y="0"/>
            <a:chExt cx="21579840" cy="2011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79841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579841">
                  <a:moveTo>
                    <a:pt x="0" y="219456"/>
                  </a:moveTo>
                  <a:cubicBezTo>
                    <a:pt x="0" y="98298"/>
                    <a:pt x="181237" y="0"/>
                    <a:pt x="404622" y="0"/>
                  </a:cubicBezTo>
                  <a:lnTo>
                    <a:pt x="21175218" y="0"/>
                  </a:lnTo>
                  <a:cubicBezTo>
                    <a:pt x="21398602" y="0"/>
                    <a:pt x="21579841" y="98298"/>
                    <a:pt x="21579841" y="219456"/>
                  </a:cubicBezTo>
                  <a:lnTo>
                    <a:pt x="21579841" y="1792224"/>
                  </a:lnTo>
                  <a:cubicBezTo>
                    <a:pt x="21579841" y="1913382"/>
                    <a:pt x="21398602" y="2011680"/>
                    <a:pt x="21175218" y="2011680"/>
                  </a:cubicBezTo>
                  <a:lnTo>
                    <a:pt x="404622" y="2011680"/>
                  </a:lnTo>
                  <a:cubicBezTo>
                    <a:pt x="181237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2511" y="8562375"/>
            <a:ext cx="759882" cy="797489"/>
            <a:chOff x="0" y="0"/>
            <a:chExt cx="1254643" cy="1316736"/>
          </a:xfrm>
        </p:grpSpPr>
        <p:sp>
          <p:nvSpPr>
            <p:cNvPr name="Freeform 15" id="15" descr="icon"/>
            <p:cNvSpPr/>
            <p:nvPr/>
          </p:nvSpPr>
          <p:spPr>
            <a:xfrm flipH="false" flipV="false" rot="0">
              <a:off x="0" y="0"/>
              <a:ext cx="1254643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54643">
                  <a:moveTo>
                    <a:pt x="0" y="0"/>
                  </a:moveTo>
                  <a:lnTo>
                    <a:pt x="1254643" y="0"/>
                  </a:lnTo>
                  <a:lnTo>
                    <a:pt x="1254643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74" t="0" r="-2474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09260" y="8206740"/>
            <a:ext cx="13655992" cy="1548669"/>
            <a:chOff x="0" y="0"/>
            <a:chExt cx="18207990" cy="20648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07989" cy="2064892"/>
            </a:xfrm>
            <a:custGeom>
              <a:avLst/>
              <a:gdLst/>
              <a:ahLst/>
              <a:cxnLst/>
              <a:rect r="r" b="b" t="t" l="l"/>
              <a:pathLst>
                <a:path h="2064892" w="18207989">
                  <a:moveTo>
                    <a:pt x="0" y="0"/>
                  </a:moveTo>
                  <a:lnTo>
                    <a:pt x="18207989" y="0"/>
                  </a:lnTo>
                  <a:lnTo>
                    <a:pt x="18207989" y="2064892"/>
                  </a:lnTo>
                  <a:lnTo>
                    <a:pt x="0" y="2064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77" r="45762" b="-419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8207990" cy="2064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วิเคราะห์ผลการทดลองรายแผ่น 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 โมเดล </a:t>
              </a:r>
              <a:r>
                <a:rPr lang="en-US" sz="210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Super-Ensemble ชนะหรือเทียบเท่าโมเดลเดี่ยวในเกือบทุกแผ่นทดสอบ โดยเฉพาะในแผ่นที่ยากที่สุดอย่าง test2.jpg และ test10.jpg (เขียนทับเส้นตาราง) ที่ความแม่นยำก้าวกระโดดขึ้นกว่า +6.00% เมื่อเทียบกับ MLP แบบดั้งเดิม และทำได้สูงถึง 99.25% (397/400 ช่อง) ในแผ่น test12.jpg ที่ถือถ่ายโดยนิ้วบังมาร์กเกอร์มุมกระดาษ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31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2940" y="213360"/>
            <a:ext cx="16596360" cy="1243889"/>
            <a:chOff x="0" y="0"/>
            <a:chExt cx="22128480" cy="1658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8519"/>
            </a:xfrm>
            <a:custGeom>
              <a:avLst/>
              <a:gdLst/>
              <a:ahLst/>
              <a:cxnLst/>
              <a:rect r="r" b="b" t="t" l="l"/>
              <a:pathLst>
                <a:path h="1658519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0" b="-2040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สรุปเป</a:t>
              </a: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รียบเทียบโมเดล 3 แบบ และ ตารางประเมินผล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2940" y="2356837"/>
            <a:ext cx="8887247" cy="1452161"/>
            <a:chOff x="0" y="0"/>
            <a:chExt cx="11849662" cy="193621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849662" cy="1936215"/>
              <a:chOff x="0" y="0"/>
              <a:chExt cx="11207824" cy="18313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207824" cy="1831340"/>
              </a:xfrm>
              <a:custGeom>
                <a:avLst/>
                <a:gdLst/>
                <a:ahLst/>
                <a:cxnLst/>
                <a:rect r="r" b="b" t="t" l="l"/>
                <a:pathLst>
                  <a:path h="1831340" w="11207824">
                    <a:moveTo>
                      <a:pt x="0" y="191096"/>
                    </a:moveTo>
                    <a:cubicBezTo>
                      <a:pt x="0" y="85595"/>
                      <a:pt x="94128" y="0"/>
                      <a:pt x="210147" y="0"/>
                    </a:cubicBezTo>
                    <a:lnTo>
                      <a:pt x="10997678" y="0"/>
                    </a:lnTo>
                    <a:cubicBezTo>
                      <a:pt x="11113696" y="0"/>
                      <a:pt x="11207824" y="85595"/>
                      <a:pt x="11207824" y="191096"/>
                    </a:cubicBezTo>
                    <a:lnTo>
                      <a:pt x="11207824" y="1640244"/>
                    </a:lnTo>
                    <a:cubicBezTo>
                      <a:pt x="11207824" y="1745745"/>
                      <a:pt x="11113696" y="1831340"/>
                      <a:pt x="10997678" y="1831340"/>
                    </a:cubicBezTo>
                    <a:lnTo>
                      <a:pt x="210147" y="1831340"/>
                    </a:lnTo>
                    <a:cubicBezTo>
                      <a:pt x="94128" y="1831340"/>
                      <a:pt x="0" y="1745745"/>
                      <a:pt x="0" y="1640244"/>
                    </a:cubicBezTo>
                    <a:close/>
                  </a:path>
                </a:pathLst>
              </a:custGeom>
              <a:solidFill>
                <a:srgbClr val="1B3A5C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62877" y="412092"/>
              <a:ext cx="7035737" cy="4929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8"/>
                </a:lnSpc>
              </a:pPr>
              <a:r>
                <a:rPr lang="en-US" sz="2431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Dual-Ensemble MLP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62877" y="1233699"/>
              <a:ext cx="7333352" cy="389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7"/>
                </a:lnSpc>
              </a:pPr>
              <a:r>
                <a:rPr lang="en-US" sz="1955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สกัดคุณลักษณะเชิงเส้นและโครงสร้างจากภาพ 28×28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8514851" y="99362"/>
              <a:ext cx="3057085" cy="1836853"/>
              <a:chOff x="0" y="0"/>
              <a:chExt cx="2891498" cy="173736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891498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2891498">
                    <a:moveTo>
                      <a:pt x="0" y="0"/>
                    </a:moveTo>
                    <a:lnTo>
                      <a:pt x="2891498" y="0"/>
                    </a:lnTo>
                    <a:lnTo>
                      <a:pt x="2891498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19" t="0" r="-46663" b="0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2891498" cy="17373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5640"/>
                  </a:lnSpc>
                </a:pPr>
                <a:r>
                  <a:rPr lang="en-US" sz="4700" b="true">
                    <a:solidFill>
                      <a:srgbClr val="FFFFFF"/>
                    </a:solidFill>
                    <a:latin typeface="Sarabun Bold"/>
                    <a:ea typeface="Sarabun Bold"/>
                    <a:cs typeface="Sarabun Bold"/>
                    <a:sym typeface="Sarabun Bold"/>
                  </a:rPr>
                  <a:t>93.04%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9744574" y="2356837"/>
            <a:ext cx="8240620" cy="1480736"/>
            <a:chOff x="0" y="0"/>
            <a:chExt cx="10987494" cy="197431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987494" cy="1974315"/>
              <a:chOff x="0" y="0"/>
              <a:chExt cx="11704320" cy="210312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704320" cy="2103120"/>
              </a:xfrm>
              <a:custGeom>
                <a:avLst/>
                <a:gdLst/>
                <a:ahLst/>
                <a:cxnLst/>
                <a:rect r="r" b="b" t="t" l="l"/>
                <a:pathLst>
                  <a:path h="2103120" w="11704320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lnTo>
                      <a:pt x="11484864" y="0"/>
                    </a:lnTo>
                    <a:cubicBezTo>
                      <a:pt x="11606022" y="0"/>
                      <a:pt x="11704320" y="98298"/>
                      <a:pt x="11704320" y="219456"/>
                    </a:cubicBezTo>
                    <a:lnTo>
                      <a:pt x="11704320" y="1883664"/>
                    </a:lnTo>
                    <a:cubicBezTo>
                      <a:pt x="11704320" y="2004822"/>
                      <a:pt x="11606022" y="2103120"/>
                      <a:pt x="11484864" y="2103120"/>
                    </a:cubicBezTo>
                    <a:lnTo>
                      <a:pt x="219456" y="2103120"/>
                    </a:lnTo>
                    <a:cubicBezTo>
                      <a:pt x="98298" y="2103120"/>
                      <a:pt x="0" y="2004822"/>
                      <a:pt x="0" y="1883664"/>
                    </a:cubicBezTo>
                    <a:close/>
                  </a:path>
                </a:pathLst>
              </a:custGeom>
              <a:solidFill>
                <a:srgbClr val="1F6FA8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6953024" y="171680"/>
              <a:ext cx="3776951" cy="1630956"/>
              <a:chOff x="0" y="0"/>
              <a:chExt cx="4023360" cy="173736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23360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4023360">
                    <a:moveTo>
                      <a:pt x="0" y="0"/>
                    </a:moveTo>
                    <a:lnTo>
                      <a:pt x="4023360" y="0"/>
                    </a:lnTo>
                    <a:lnTo>
                      <a:pt x="4023360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5403" t="0" r="-5403" b="0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4023360" cy="17373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5640"/>
                  </a:lnSpc>
                </a:pPr>
                <a:r>
                  <a:rPr lang="en-US" sz="4700" b="true">
                    <a:solidFill>
                      <a:srgbClr val="FFFFFF"/>
                    </a:solidFill>
                    <a:latin typeface="Sarabun Bold"/>
                    <a:ea typeface="Sarabun Bold"/>
                    <a:cs typeface="Sarabun Bold"/>
                    <a:sym typeface="Sarabun Bold"/>
                  </a:rPr>
                  <a:t>95.04%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99226" y="276720"/>
              <a:ext cx="652382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0"/>
                </a:lnSpc>
              </a:pPr>
              <a:r>
                <a:rPr lang="en-US" sz="2459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Custom 2D CNN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99226" y="996683"/>
              <a:ext cx="6628865" cy="681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84"/>
                </a:lnSpc>
              </a:pPr>
              <a:r>
                <a:rPr lang="en-US" sz="1736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CharCNN + Focal Loss (γ = 2.0) ร่วมกับ Random Stroke Erasing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4266209"/>
            <a:ext cx="8138160" cy="1508760"/>
            <a:chOff x="0" y="0"/>
            <a:chExt cx="10850880" cy="201168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850880" cy="2011680"/>
              <a:chOff x="0" y="0"/>
              <a:chExt cx="9604125" cy="178054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604125" cy="1780540"/>
              </a:xfrm>
              <a:custGeom>
                <a:avLst/>
                <a:gdLst/>
                <a:ahLst/>
                <a:cxnLst/>
                <a:rect r="r" b="b" t="t" l="l"/>
                <a:pathLst>
                  <a:path h="1780540" w="9604125">
                    <a:moveTo>
                      <a:pt x="0" y="185795"/>
                    </a:moveTo>
                    <a:cubicBezTo>
                      <a:pt x="0" y="83221"/>
                      <a:pt x="80660" y="0"/>
                      <a:pt x="180077" y="0"/>
                    </a:cubicBezTo>
                    <a:lnTo>
                      <a:pt x="9424047" y="0"/>
                    </a:lnTo>
                    <a:cubicBezTo>
                      <a:pt x="9523465" y="0"/>
                      <a:pt x="9604125" y="83221"/>
                      <a:pt x="9604125" y="185795"/>
                    </a:cubicBezTo>
                    <a:lnTo>
                      <a:pt x="9604125" y="1594745"/>
                    </a:lnTo>
                    <a:cubicBezTo>
                      <a:pt x="9604125" y="1697319"/>
                      <a:pt x="9523465" y="1780540"/>
                      <a:pt x="9424047" y="1780540"/>
                    </a:cubicBezTo>
                    <a:lnTo>
                      <a:pt x="180077" y="1780540"/>
                    </a:lnTo>
                    <a:cubicBezTo>
                      <a:pt x="80660" y="1780540"/>
                      <a:pt x="0" y="1697319"/>
                      <a:pt x="0" y="1594745"/>
                    </a:cubicBezTo>
                    <a:close/>
                  </a:path>
                </a:pathLst>
              </a:custGeom>
              <a:solidFill>
                <a:srgbClr val="0E7C86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493285" y="206620"/>
              <a:ext cx="7497937" cy="545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3"/>
                </a:lnSpc>
              </a:pPr>
              <a:r>
                <a:rPr lang="en-US" sz="2711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Super-Ensemble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93285" y="1139514"/>
              <a:ext cx="7497937" cy="425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8"/>
                </a:lnSpc>
              </a:pPr>
              <a:r>
                <a:rPr lang="en-US" sz="209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ถ่วงน้ำหนักความน่าจะเป็น MLP + CNN 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7023756" y="24393"/>
              <a:ext cx="3341222" cy="1962895"/>
              <a:chOff x="0" y="0"/>
              <a:chExt cx="2957319" cy="173736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957319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2957319">
                    <a:moveTo>
                      <a:pt x="0" y="0"/>
                    </a:moveTo>
                    <a:lnTo>
                      <a:pt x="2957319" y="0"/>
                    </a:lnTo>
                    <a:lnTo>
                      <a:pt x="2957319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351" t="0" r="-43399" b="0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2957319" cy="17373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5400"/>
                  </a:lnSpc>
                </a:pPr>
                <a:r>
                  <a:rPr lang="en-US" sz="4500" b="true">
                    <a:solidFill>
                      <a:srgbClr val="FFFFFF"/>
                    </a:solidFill>
                    <a:latin typeface="Sarabun Bold"/>
                    <a:ea typeface="Sarabun Bold"/>
                    <a:cs typeface="Sarabun Bold"/>
                    <a:sym typeface="Sarabun Bold"/>
                  </a:rPr>
                  <a:t>95.12%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9206955" y="4266209"/>
            <a:ext cx="8778240" cy="1508760"/>
            <a:chOff x="0" y="0"/>
            <a:chExt cx="11704320" cy="201168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1704320" cy="2011680"/>
              <a:chOff x="0" y="0"/>
              <a:chExt cx="11704320" cy="201168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704320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1704320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lnTo>
                      <a:pt x="11484864" y="0"/>
                    </a:lnTo>
                    <a:cubicBezTo>
                      <a:pt x="11606022" y="0"/>
                      <a:pt x="11704320" y="98298"/>
                      <a:pt x="11704320" y="219456"/>
                    </a:cubicBezTo>
                    <a:lnTo>
                      <a:pt x="11704320" y="1792224"/>
                    </a:lnTo>
                    <a:cubicBezTo>
                      <a:pt x="11704320" y="1913382"/>
                      <a:pt x="11606022" y="2011680"/>
                      <a:pt x="11484864" y="2011680"/>
                    </a:cubicBezTo>
                    <a:lnTo>
                      <a:pt x="219456" y="2011680"/>
                    </a:lnTo>
                    <a:cubicBezTo>
                      <a:pt x="98298" y="2011680"/>
                      <a:pt x="0" y="1913382"/>
                      <a:pt x="0" y="1792224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457200" y="694944"/>
              <a:ext cx="621792" cy="621792"/>
              <a:chOff x="0" y="0"/>
              <a:chExt cx="621792" cy="621792"/>
            </a:xfrm>
          </p:grpSpPr>
          <p:sp>
            <p:nvSpPr>
              <p:cNvPr name="Freeform 35" id="35" descr="icon"/>
              <p:cNvSpPr/>
              <p:nvPr/>
            </p:nvSpPr>
            <p:spPr>
              <a:xfrm flipH="false" flipV="false" rot="0">
                <a:off x="0" y="0"/>
                <a:ext cx="621792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621792">
                    <a:moveTo>
                      <a:pt x="0" y="0"/>
                    </a:moveTo>
                    <a:lnTo>
                      <a:pt x="621792" y="0"/>
                    </a:lnTo>
                    <a:lnTo>
                      <a:pt x="621792" y="621792"/>
                    </a:lnTo>
                    <a:lnTo>
                      <a:pt x="0" y="62179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228298" y="225527"/>
              <a:ext cx="9875520" cy="1560627"/>
              <a:chOff x="0" y="0"/>
              <a:chExt cx="9875520" cy="156062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75520" cy="1560627"/>
              </a:xfrm>
              <a:custGeom>
                <a:avLst/>
                <a:gdLst/>
                <a:ahLst/>
                <a:cxnLst/>
                <a:rect r="r" b="b" t="t" l="l"/>
                <a:pathLst>
                  <a:path h="1560627" w="9875520">
                    <a:moveTo>
                      <a:pt x="0" y="0"/>
                    </a:moveTo>
                    <a:lnTo>
                      <a:pt x="9875520" y="0"/>
                    </a:lnTo>
                    <a:lnTo>
                      <a:pt x="9875520" y="1560627"/>
                    </a:lnTo>
                    <a:lnTo>
                      <a:pt x="0" y="156062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8848" r="0" b="-87750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9875520" cy="15701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Super-Ensemble ถ่วงดุลความเสี่ยงระหว่างฟีเจอร์ขอบเส้น (MLP) และโครงสร้าง 2 มิติ (CNN) ช่วยลดอัตราความผิดพลาดรวมลงถึง 29.9% และได้ค่า F1-Score สูงสุดที่ 94.44%</a:t>
                </a:r>
              </a:p>
            </p:txBody>
          </p:sp>
        </p:grpSp>
      </p:grpSp>
      <p:sp>
        <p:nvSpPr>
          <p:cNvPr name="Freeform 39" id="39"/>
          <p:cNvSpPr/>
          <p:nvPr/>
        </p:nvSpPr>
        <p:spPr>
          <a:xfrm flipH="false" flipV="false" rot="0">
            <a:off x="2069140" y="6670319"/>
            <a:ext cx="13558637" cy="3226060"/>
          </a:xfrm>
          <a:custGeom>
            <a:avLst/>
            <a:gdLst/>
            <a:ahLst/>
            <a:cxnLst/>
            <a:rect r="r" b="b" t="t" l="l"/>
            <a:pathLst>
              <a:path h="3226060" w="13558637">
                <a:moveTo>
                  <a:pt x="0" y="0"/>
                </a:moveTo>
                <a:lnTo>
                  <a:pt x="13558637" y="0"/>
                </a:lnTo>
                <a:lnTo>
                  <a:pt x="13558637" y="3226060"/>
                </a:lnTo>
                <a:lnTo>
                  <a:pt x="0" y="3226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22960" y="1723949"/>
            <a:ext cx="196041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โมเดล 3 แบบ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2960" y="6041669"/>
            <a:ext cx="237361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ตารางประเมินผล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6809" y="7029210"/>
            <a:ext cx="5633321" cy="2819640"/>
            <a:chOff x="0" y="0"/>
            <a:chExt cx="8888917" cy="4449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88906" cy="4449160"/>
            </a:xfrm>
            <a:custGeom>
              <a:avLst/>
              <a:gdLst/>
              <a:ahLst/>
              <a:cxnLst/>
              <a:rect r="r" b="b" t="t" l="l"/>
              <a:pathLst>
                <a:path h="4449160" w="8888906">
                  <a:moveTo>
                    <a:pt x="0" y="255368"/>
                  </a:moveTo>
                  <a:cubicBezTo>
                    <a:pt x="0" y="114407"/>
                    <a:pt x="85617" y="0"/>
                    <a:pt x="191105" y="0"/>
                  </a:cubicBezTo>
                  <a:lnTo>
                    <a:pt x="8697802" y="0"/>
                  </a:lnTo>
                  <a:cubicBezTo>
                    <a:pt x="8803395" y="0"/>
                    <a:pt x="8888906" y="114407"/>
                    <a:pt x="8888906" y="255368"/>
                  </a:cubicBezTo>
                  <a:lnTo>
                    <a:pt x="8888906" y="4193793"/>
                  </a:lnTo>
                  <a:cubicBezTo>
                    <a:pt x="8888906" y="4334895"/>
                    <a:pt x="8803289" y="4449160"/>
                    <a:pt x="8697802" y="4449160"/>
                  </a:cubicBezTo>
                  <a:lnTo>
                    <a:pt x="191105" y="4449160"/>
                  </a:lnTo>
                  <a:cubicBezTo>
                    <a:pt x="85617" y="4449160"/>
                    <a:pt x="0" y="4334753"/>
                    <a:pt x="0" y="419379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28360" y="1673153"/>
            <a:ext cx="5130219" cy="6156263"/>
          </a:xfrm>
          <a:custGeom>
            <a:avLst/>
            <a:gdLst/>
            <a:ahLst/>
            <a:cxnLst/>
            <a:rect r="r" b="b" t="t" l="l"/>
            <a:pathLst>
              <a:path h="6156263" w="5130219">
                <a:moveTo>
                  <a:pt x="0" y="0"/>
                </a:moveTo>
                <a:lnTo>
                  <a:pt x="5130219" y="0"/>
                </a:lnTo>
                <a:lnTo>
                  <a:pt x="5130219" y="6156263"/>
                </a:lnTo>
                <a:lnTo>
                  <a:pt x="0" y="6156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1076" y="8047355"/>
            <a:ext cx="3724787" cy="24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7"/>
              </a:lnSpc>
            </a:pPr>
            <a:r>
              <a:rPr lang="en-US" sz="1689" b="true">
                <a:solidFill>
                  <a:srgbClr val="64748B"/>
                </a:solidFill>
                <a:latin typeface="Sarabun Bold"/>
                <a:ea typeface="Sarabun Bold"/>
                <a:cs typeface="Sarabun Bold"/>
                <a:sym typeface="Sarabun Bold"/>
              </a:rPr>
              <a:t>ผลการทดสอบที่มีการเพิ่มขึ้นมากที่สุด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75758" y="8420686"/>
            <a:ext cx="3035422" cy="91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6844" b="true">
                <a:solidFill>
                  <a:srgbClr val="059669"/>
                </a:solidFill>
                <a:latin typeface="Prompt Bold"/>
                <a:ea typeface="Prompt Bold"/>
                <a:cs typeface="Prompt Bold"/>
                <a:sym typeface="Prompt Bold"/>
              </a:rPr>
              <a:t>+6.00%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444" y="9339958"/>
            <a:ext cx="4330052" cy="25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711" b="true">
                <a:solidFill>
                  <a:srgbClr val="0F172A"/>
                </a:solidFill>
                <a:latin typeface="Sarabun Bold"/>
                <a:ea typeface="Sarabun Bold"/>
                <a:cs typeface="Sarabun Bold"/>
                <a:sym typeface="Sarabun Bold"/>
              </a:rPr>
              <a:t>ตรวจตัวอักษรถูกเพิ่มขึ้น +24 อักขระสำเร็จ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512360" y="1673153"/>
            <a:ext cx="9952680" cy="4928246"/>
            <a:chOff x="0" y="0"/>
            <a:chExt cx="13270240" cy="657099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270240" cy="1985338"/>
              <a:chOff x="0" y="0"/>
              <a:chExt cx="13488996" cy="20180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489009" cy="2018066"/>
              </a:xfrm>
              <a:custGeom>
                <a:avLst/>
                <a:gdLst/>
                <a:ahLst/>
                <a:cxnLst/>
                <a:rect r="r" b="b" t="t" l="l"/>
                <a:pathLst>
                  <a:path h="2018066" w="13489009">
                    <a:moveTo>
                      <a:pt x="0" y="240269"/>
                    </a:moveTo>
                    <a:cubicBezTo>
                      <a:pt x="0" y="107630"/>
                      <a:pt x="103057" y="0"/>
                      <a:pt x="230061" y="0"/>
                    </a:cubicBezTo>
                    <a:lnTo>
                      <a:pt x="13258950" y="0"/>
                    </a:lnTo>
                    <a:cubicBezTo>
                      <a:pt x="13385953" y="0"/>
                      <a:pt x="13489009" y="107630"/>
                      <a:pt x="13489009" y="240269"/>
                    </a:cubicBezTo>
                    <a:lnTo>
                      <a:pt x="13489009" y="1777797"/>
                    </a:lnTo>
                    <a:cubicBezTo>
                      <a:pt x="13489009" y="1910435"/>
                      <a:pt x="13385953" y="2018066"/>
                      <a:pt x="13258950" y="2018066"/>
                    </a:cubicBezTo>
                    <a:lnTo>
                      <a:pt x="230061" y="2018066"/>
                    </a:lnTo>
                    <a:cubicBezTo>
                      <a:pt x="103057" y="2018066"/>
                      <a:pt x="0" y="1910435"/>
                      <a:pt x="0" y="17777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99528" y="1432477"/>
              <a:ext cx="12540157" cy="149928"/>
              <a:chOff x="0" y="0"/>
              <a:chExt cx="12746879" cy="152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746891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2746891">
                    <a:moveTo>
                      <a:pt x="0" y="76200"/>
                    </a:moveTo>
                    <a:cubicBezTo>
                      <a:pt x="0" y="34163"/>
                      <a:pt x="41535" y="0"/>
                      <a:pt x="92644" y="0"/>
                    </a:cubicBezTo>
                    <a:lnTo>
                      <a:pt x="12654250" y="0"/>
                    </a:lnTo>
                    <a:cubicBezTo>
                      <a:pt x="12705359" y="0"/>
                      <a:pt x="12746891" y="34163"/>
                      <a:pt x="12746891" y="76200"/>
                    </a:cubicBezTo>
                    <a:cubicBezTo>
                      <a:pt x="12746891" y="118237"/>
                      <a:pt x="12705359" y="152400"/>
                      <a:pt x="12654250" y="152400"/>
                    </a:cubicBezTo>
                    <a:lnTo>
                      <a:pt x="92644" y="152400"/>
                    </a:lnTo>
                    <a:cubicBezTo>
                      <a:pt x="41535" y="152400"/>
                      <a:pt x="0" y="118237"/>
                      <a:pt x="0" y="76200"/>
                    </a:cubicBez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99528" y="1432477"/>
              <a:ext cx="9683994" cy="143384"/>
              <a:chOff x="0" y="0"/>
              <a:chExt cx="10292892" cy="152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292905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0292905">
                    <a:moveTo>
                      <a:pt x="0" y="0"/>
                    </a:moveTo>
                    <a:lnTo>
                      <a:pt x="10292905" y="0"/>
                    </a:lnTo>
                    <a:lnTo>
                      <a:pt x="10292905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2671451"/>
              <a:ext cx="13270240" cy="1826681"/>
              <a:chOff x="0" y="0"/>
              <a:chExt cx="13488996" cy="185679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489009" cy="1856794"/>
              </a:xfrm>
              <a:custGeom>
                <a:avLst/>
                <a:gdLst/>
                <a:ahLst/>
                <a:cxnLst/>
                <a:rect r="r" b="b" t="t" l="l"/>
                <a:pathLst>
                  <a:path h="1856794" w="13489009">
                    <a:moveTo>
                      <a:pt x="0" y="221068"/>
                    </a:moveTo>
                    <a:cubicBezTo>
                      <a:pt x="0" y="99029"/>
                      <a:pt x="103057" y="0"/>
                      <a:pt x="230061" y="0"/>
                    </a:cubicBezTo>
                    <a:lnTo>
                      <a:pt x="13258950" y="0"/>
                    </a:lnTo>
                    <a:cubicBezTo>
                      <a:pt x="13385953" y="0"/>
                      <a:pt x="13489009" y="99029"/>
                      <a:pt x="13489009" y="221068"/>
                    </a:cubicBezTo>
                    <a:lnTo>
                      <a:pt x="13489009" y="1635726"/>
                    </a:lnTo>
                    <a:cubicBezTo>
                      <a:pt x="13489009" y="1757765"/>
                      <a:pt x="13385953" y="1856794"/>
                      <a:pt x="13258950" y="1856794"/>
                    </a:cubicBezTo>
                    <a:lnTo>
                      <a:pt x="230061" y="1856794"/>
                    </a:lnTo>
                    <a:cubicBezTo>
                      <a:pt x="103057" y="1856794"/>
                      <a:pt x="0" y="1757765"/>
                      <a:pt x="0" y="1635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99528" y="4108755"/>
              <a:ext cx="12540157" cy="149928"/>
              <a:chOff x="0" y="0"/>
              <a:chExt cx="12746879" cy="152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746891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2746891">
                    <a:moveTo>
                      <a:pt x="0" y="76200"/>
                    </a:moveTo>
                    <a:cubicBezTo>
                      <a:pt x="0" y="34163"/>
                      <a:pt x="41535" y="0"/>
                      <a:pt x="92644" y="0"/>
                    </a:cubicBezTo>
                    <a:lnTo>
                      <a:pt x="12654250" y="0"/>
                    </a:lnTo>
                    <a:cubicBezTo>
                      <a:pt x="12705359" y="0"/>
                      <a:pt x="12746891" y="34163"/>
                      <a:pt x="12746891" y="76200"/>
                    </a:cubicBezTo>
                    <a:cubicBezTo>
                      <a:pt x="12746891" y="118237"/>
                      <a:pt x="12705359" y="152400"/>
                      <a:pt x="12654250" y="152400"/>
                    </a:cubicBezTo>
                    <a:lnTo>
                      <a:pt x="92644" y="152400"/>
                    </a:lnTo>
                    <a:cubicBezTo>
                      <a:pt x="41535" y="152400"/>
                      <a:pt x="0" y="118237"/>
                      <a:pt x="0" y="76200"/>
                    </a:cubicBez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9528" y="4108755"/>
              <a:ext cx="11066911" cy="163860"/>
              <a:chOff x="0" y="0"/>
              <a:chExt cx="10292892" cy="152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292905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0292905">
                    <a:moveTo>
                      <a:pt x="0" y="0"/>
                    </a:moveTo>
                    <a:lnTo>
                      <a:pt x="10292905" y="0"/>
                    </a:lnTo>
                    <a:lnTo>
                      <a:pt x="10292905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2B84B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4835481"/>
              <a:ext cx="13270240" cy="1735513"/>
              <a:chOff x="0" y="0"/>
              <a:chExt cx="13488996" cy="176412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489009" cy="1764123"/>
              </a:xfrm>
              <a:custGeom>
                <a:avLst/>
                <a:gdLst/>
                <a:ahLst/>
                <a:cxnLst/>
                <a:rect r="r" b="b" t="t" l="l"/>
                <a:pathLst>
                  <a:path h="1764123" w="13489009">
                    <a:moveTo>
                      <a:pt x="0" y="210034"/>
                    </a:moveTo>
                    <a:cubicBezTo>
                      <a:pt x="0" y="94087"/>
                      <a:pt x="103057" y="0"/>
                      <a:pt x="230061" y="0"/>
                    </a:cubicBezTo>
                    <a:lnTo>
                      <a:pt x="13258950" y="0"/>
                    </a:lnTo>
                    <a:cubicBezTo>
                      <a:pt x="13385953" y="0"/>
                      <a:pt x="13489009" y="94087"/>
                      <a:pt x="13489009" y="210034"/>
                    </a:cubicBezTo>
                    <a:lnTo>
                      <a:pt x="13489009" y="1554088"/>
                    </a:lnTo>
                    <a:cubicBezTo>
                      <a:pt x="13489009" y="1670036"/>
                      <a:pt x="13385953" y="1764123"/>
                      <a:pt x="13258950" y="1764123"/>
                    </a:cubicBezTo>
                    <a:lnTo>
                      <a:pt x="230061" y="1764123"/>
                    </a:lnTo>
                    <a:cubicBezTo>
                      <a:pt x="103057" y="1764123"/>
                      <a:pt x="0" y="1670036"/>
                      <a:pt x="0" y="15540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2E8F0"/>
                </a:solidFill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99528" y="6181617"/>
              <a:ext cx="12540157" cy="149928"/>
              <a:chOff x="0" y="0"/>
              <a:chExt cx="12746879" cy="152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746891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2746891">
                    <a:moveTo>
                      <a:pt x="0" y="76200"/>
                    </a:moveTo>
                    <a:cubicBezTo>
                      <a:pt x="0" y="34163"/>
                      <a:pt x="41535" y="0"/>
                      <a:pt x="92644" y="0"/>
                    </a:cubicBezTo>
                    <a:lnTo>
                      <a:pt x="12654250" y="0"/>
                    </a:lnTo>
                    <a:cubicBezTo>
                      <a:pt x="12705359" y="0"/>
                      <a:pt x="12746891" y="34163"/>
                      <a:pt x="12746891" y="76200"/>
                    </a:cubicBezTo>
                    <a:cubicBezTo>
                      <a:pt x="12746891" y="118237"/>
                      <a:pt x="12705359" y="152400"/>
                      <a:pt x="12654250" y="152400"/>
                    </a:cubicBezTo>
                    <a:lnTo>
                      <a:pt x="92644" y="152400"/>
                    </a:lnTo>
                    <a:cubicBezTo>
                      <a:pt x="41535" y="152400"/>
                      <a:pt x="0" y="118237"/>
                      <a:pt x="0" y="76200"/>
                    </a:cubicBez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99528" y="6181617"/>
              <a:ext cx="10863524" cy="160849"/>
              <a:chOff x="0" y="0"/>
              <a:chExt cx="10292892" cy="152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292905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0292905">
                    <a:moveTo>
                      <a:pt x="0" y="0"/>
                    </a:moveTo>
                    <a:lnTo>
                      <a:pt x="10292905" y="0"/>
                    </a:lnTo>
                    <a:lnTo>
                      <a:pt x="10292905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99528" y="158758"/>
              <a:ext cx="7082394" cy="385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994" b="true">
                  <a:solidFill>
                    <a:srgbClr val="64748B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ตอนที่ใช้ Dual-Ensemble MLP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221312" y="702401"/>
              <a:ext cx="6396100" cy="51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EF444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77</a:t>
              </a:r>
              <a:r>
                <a:rPr lang="en-US" sz="2550" b="true">
                  <a:solidFill>
                    <a:srgbClr val="EF444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.75% (311 / 400 ช่อง)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66702" y="2825127"/>
              <a:ext cx="10058794" cy="385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994" b="true">
                  <a:solidFill>
                    <a:srgbClr val="64748B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ตอนที่ใช้ Custom 2D CNN (CharCNN + Focal)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131138" y="3382869"/>
              <a:ext cx="6608547" cy="51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b="true" sz="2550">
                  <a:solidFill>
                    <a:srgbClr val="F2B84B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84.00% (336 / 400 ช่อง)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66702" y="4989157"/>
              <a:ext cx="11208267" cy="385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994" b="true">
                  <a:solidFill>
                    <a:srgbClr val="64748B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ตอนที่ใช้ Super-Ensemble (30% MLP + 70% CNN)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221312" y="5444929"/>
              <a:ext cx="6608547" cy="51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b="true" sz="2550">
                  <a:solidFill>
                    <a:srgbClr val="16A34A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83.75% (335 / 400 ช่อง)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6809" y="429265"/>
            <a:ext cx="16036771" cy="1243889"/>
            <a:chOff x="0" y="0"/>
            <a:chExt cx="21382361" cy="16585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382362" cy="1658519"/>
            </a:xfrm>
            <a:custGeom>
              <a:avLst/>
              <a:gdLst/>
              <a:ahLst/>
              <a:cxnLst/>
              <a:rect r="r" b="b" t="t" l="l"/>
              <a:pathLst>
                <a:path h="1658519" w="21382362">
                  <a:moveTo>
                    <a:pt x="0" y="0"/>
                  </a:moveTo>
                  <a:lnTo>
                    <a:pt x="21382362" y="0"/>
                  </a:lnTo>
                  <a:lnTo>
                    <a:pt x="21382362" y="1658519"/>
                  </a:lnTo>
                  <a:lnTo>
                    <a:pt x="0" y="1658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68" r="-3489" b="-20408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21382361" cy="1648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กรณ</a:t>
              </a: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ีศึกษาเคสยาก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12360" y="7118076"/>
            <a:ext cx="9449760" cy="2357570"/>
            <a:chOff x="0" y="0"/>
            <a:chExt cx="12599680" cy="314342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2599680" cy="3143426"/>
              <a:chOff x="0" y="0"/>
              <a:chExt cx="12599680" cy="314342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2599680" cy="3143426"/>
              </a:xfrm>
              <a:custGeom>
                <a:avLst/>
                <a:gdLst/>
                <a:ahLst/>
                <a:cxnLst/>
                <a:rect r="r" b="b" t="t" l="l"/>
                <a:pathLst>
                  <a:path h="3143426" w="12599680">
                    <a:moveTo>
                      <a:pt x="0" y="342919"/>
                    </a:moveTo>
                    <a:cubicBezTo>
                      <a:pt x="0" y="153599"/>
                      <a:pt x="105818" y="0"/>
                      <a:pt x="236244" y="0"/>
                    </a:cubicBezTo>
                    <a:lnTo>
                      <a:pt x="12363435" y="0"/>
                    </a:lnTo>
                    <a:cubicBezTo>
                      <a:pt x="12493861" y="0"/>
                      <a:pt x="12599680" y="153599"/>
                      <a:pt x="12599680" y="342919"/>
                    </a:cubicBezTo>
                    <a:lnTo>
                      <a:pt x="12599680" y="2800507"/>
                    </a:lnTo>
                    <a:cubicBezTo>
                      <a:pt x="12599680" y="2989827"/>
                      <a:pt x="12493861" y="3143426"/>
                      <a:pt x="12363435" y="3143426"/>
                    </a:cubicBezTo>
                    <a:lnTo>
                      <a:pt x="236244" y="3143426"/>
                    </a:lnTo>
                    <a:cubicBezTo>
                      <a:pt x="105818" y="3143426"/>
                      <a:pt x="0" y="2989827"/>
                      <a:pt x="0" y="280050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216336" y="259311"/>
              <a:ext cx="12167008" cy="829258"/>
              <a:chOff x="0" y="0"/>
              <a:chExt cx="12167008" cy="82925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2167008" cy="829258"/>
              </a:xfrm>
              <a:custGeom>
                <a:avLst/>
                <a:gdLst/>
                <a:ahLst/>
                <a:cxnLst/>
                <a:rect r="r" b="b" t="t" l="l"/>
                <a:pathLst>
                  <a:path h="829258" w="12167008">
                    <a:moveTo>
                      <a:pt x="0" y="0"/>
                    </a:moveTo>
                    <a:lnTo>
                      <a:pt x="12167008" y="0"/>
                    </a:lnTo>
                    <a:lnTo>
                      <a:pt x="12167008" y="829258"/>
                    </a:lnTo>
                    <a:lnTo>
                      <a:pt x="0" y="82925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0750" r="18833" b="-253338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12167008" cy="8292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ปัญหาที่พบ :</a:t>
                </a:r>
                <a:r>
                  <a:rPr lang="en-US" sz="2399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 เส้นขาดช่วง และ เขียนหวัดทับเส้นตาราง 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216336" y="1088569"/>
              <a:ext cx="12167008" cy="1914483"/>
              <a:chOff x="0" y="0"/>
              <a:chExt cx="12167008" cy="1914483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167008" cy="1914483"/>
              </a:xfrm>
              <a:custGeom>
                <a:avLst/>
                <a:gdLst/>
                <a:ahLst/>
                <a:cxnLst/>
                <a:rect r="r" b="b" t="t" l="l"/>
                <a:pathLst>
                  <a:path h="1914483" w="12167008">
                    <a:moveTo>
                      <a:pt x="0" y="0"/>
                    </a:moveTo>
                    <a:lnTo>
                      <a:pt x="12167008" y="0"/>
                    </a:lnTo>
                    <a:lnTo>
                      <a:pt x="12167008" y="1914483"/>
                    </a:lnTo>
                    <a:lnTo>
                      <a:pt x="0" y="191448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971" r="18833" b="-53048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9525"/>
                <a:ext cx="12167008" cy="19049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388622" indent="-194311" lvl="1">
                  <a:lnSpc>
                    <a:spcPts val="2160"/>
                  </a:lnSpc>
                  <a:buFont typeface="Arial"/>
                  <a:buChar char="•"/>
                </a:pPr>
                <a:r>
                  <a:rPr lang="en-US" sz="18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การแก้ด้วย CV : ใช้ Dynamic Dilation เพิ่มความหนาและเชื่อมรอยเส้นดินสอที่จางให้คมชัดขึ้น</a:t>
                </a:r>
              </a:p>
              <a:p>
                <a:pPr algn="l">
                  <a:lnSpc>
                    <a:spcPts val="2160"/>
                  </a:lnSpc>
                </a:pPr>
              </a:p>
              <a:p>
                <a:pPr algn="l" marL="388622" indent="-194311" lvl="1">
                  <a:lnSpc>
                    <a:spcPts val="2160"/>
                  </a:lnSpc>
                  <a:buFont typeface="Arial"/>
                  <a:buChar char="•"/>
                </a:pPr>
                <a:r>
                  <a:rPr lang="en-US" sz="18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การแก้ด้วยโมเดล :</a:t>
                </a:r>
                <a:r>
                  <a:rPr lang="en-US" sz="1800">
                    <a:solidFill>
                      <a:srgbClr val="10243E"/>
                    </a:solidFill>
                    <a:latin typeface="Sarabun"/>
                    <a:ea typeface="Sarabun"/>
                    <a:cs typeface="Sarabun"/>
                    <a:sym typeface="Sarabun"/>
                  </a:rPr>
                  <a:t> โมเดล CNN ฝึกด้วย Focal Loss + Random Erasing จึงอ่านเส้นที่จางและขาดได้แม่นยำขึ้น +24 ตัวอักษร</a:t>
                </a: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545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ประโยชน์ ข้อจำกัด และแนวทางพัฒนาต่อ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851660"/>
            <a:ext cx="82296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E7C86"/>
                </a:solidFill>
                <a:latin typeface="Sarabun Bold"/>
                <a:ea typeface="Sarabun Bold"/>
                <a:cs typeface="Sarabun Bold"/>
                <a:sym typeface="Sarabun Bold"/>
              </a:rPr>
              <a:t>ประโยชน์ที่ได้รับ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2537460"/>
            <a:ext cx="4389120" cy="3223260"/>
            <a:chOff x="0" y="0"/>
            <a:chExt cx="5852160" cy="429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21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4078224"/>
                  </a:lnTo>
                  <a:cubicBezTo>
                    <a:pt x="5852160" y="4199382"/>
                    <a:pt x="5753862" y="4297680"/>
                    <a:pt x="563270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88036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97660" y="3112160"/>
            <a:ext cx="427939" cy="427939"/>
            <a:chOff x="0" y="0"/>
            <a:chExt cx="570586" cy="570586"/>
          </a:xfrm>
        </p:grpSpPr>
        <p:sp>
          <p:nvSpPr>
            <p:cNvPr name="Freeform 13" id="13" descr="icon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65860" y="3909060"/>
            <a:ext cx="3771900" cy="17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ลดเวลาอ่านและบันทึกคำตอบ 400 ช่องต่อแผ่น รองรับการประมวลผลหลายแผ่น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486400" y="2537460"/>
            <a:ext cx="4389120" cy="3223260"/>
            <a:chOff x="0" y="0"/>
            <a:chExt cx="5852160" cy="4297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4078224"/>
                  </a:lnTo>
                  <a:cubicBezTo>
                    <a:pt x="5852160" y="4199382"/>
                    <a:pt x="5753862" y="4297680"/>
                    <a:pt x="563270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829300" y="2880360"/>
            <a:ext cx="891540" cy="891540"/>
            <a:chOff x="0" y="0"/>
            <a:chExt cx="118872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061100" y="3112160"/>
            <a:ext cx="427939" cy="427939"/>
            <a:chOff x="0" y="0"/>
            <a:chExt cx="570586" cy="570586"/>
          </a:xfrm>
        </p:grpSpPr>
        <p:sp>
          <p:nvSpPr>
            <p:cNvPr name="Freeform 20" id="20" descr="icon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829300" y="3909060"/>
            <a:ext cx="37719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ใช้ภาพจากสมาร์ตโฟนทั่วไป ไม่ต้องใช้เครื่องสแกนเฉพาะทาง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22960" y="6035040"/>
            <a:ext cx="4389120" cy="3223260"/>
            <a:chOff x="0" y="0"/>
            <a:chExt cx="5852160" cy="4297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4078224"/>
                  </a:lnTo>
                  <a:cubicBezTo>
                    <a:pt x="5852160" y="4199382"/>
                    <a:pt x="5753862" y="4297680"/>
                    <a:pt x="563270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6377940"/>
            <a:ext cx="891540" cy="891540"/>
            <a:chOff x="0" y="0"/>
            <a:chExt cx="1188720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97660" y="6609740"/>
            <a:ext cx="427939" cy="427939"/>
            <a:chOff x="0" y="0"/>
            <a:chExt cx="570586" cy="570586"/>
          </a:xfrm>
        </p:grpSpPr>
        <p:sp>
          <p:nvSpPr>
            <p:cNvPr name="Freeform 27" id="27" descr="icon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65860" y="7406640"/>
            <a:ext cx="37719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ส่งออก JSON ภาพตีกรอบผลการอ่าน และ Excel Dashboard สรุปรายแผ่นและรายช่อง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486400" y="6035040"/>
            <a:ext cx="4389120" cy="3223260"/>
            <a:chOff x="0" y="0"/>
            <a:chExt cx="5852160" cy="429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4078224"/>
                  </a:lnTo>
                  <a:cubicBezTo>
                    <a:pt x="5852160" y="4199382"/>
                    <a:pt x="5753862" y="4297680"/>
                    <a:pt x="563270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829300" y="6377940"/>
            <a:ext cx="891540" cy="891540"/>
            <a:chOff x="0" y="0"/>
            <a:chExt cx="1188720" cy="1188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061100" y="6609740"/>
            <a:ext cx="427939" cy="427939"/>
            <a:chOff x="0" y="0"/>
            <a:chExt cx="570586" cy="570586"/>
          </a:xfrm>
        </p:grpSpPr>
        <p:sp>
          <p:nvSpPr>
            <p:cNvPr name="Freeform 34" id="34" descr="icon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4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829300" y="7406640"/>
            <a:ext cx="37719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ระบุ</a:t>
            </a: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ค่า Confidence รายช่อง พร้อมคัดกรองสถานะ Needs Review อัตโนมัติ ช่วยลดภาระผู้ตรวจไม่ต้องตรวจเช็กทุกช่อง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0" y="1851660"/>
            <a:ext cx="6858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D98E04"/>
                </a:solidFill>
                <a:latin typeface="Sarabun Bold"/>
                <a:ea typeface="Sarabun Bold"/>
                <a:cs typeface="Sarabun Bold"/>
                <a:sym typeface="Sarabun Bold"/>
              </a:rPr>
              <a:t>ข้อจำกัดที่พบ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287000" y="2537460"/>
            <a:ext cx="7173468" cy="3497580"/>
            <a:chOff x="0" y="0"/>
            <a:chExt cx="9564624" cy="466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64625" cy="4663440"/>
            </a:xfrm>
            <a:custGeom>
              <a:avLst/>
              <a:gdLst/>
              <a:ahLst/>
              <a:cxnLst/>
              <a:rect r="r" b="b" t="t" l="l"/>
              <a:pathLst>
                <a:path h="4663440" w="95646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345168" y="0"/>
                  </a:lnTo>
                  <a:cubicBezTo>
                    <a:pt x="9466326" y="0"/>
                    <a:pt x="9564625" y="98298"/>
                    <a:pt x="9564625" y="219456"/>
                  </a:cubicBezTo>
                  <a:lnTo>
                    <a:pt x="9564625" y="4443984"/>
                  </a:lnTo>
                  <a:cubicBezTo>
                    <a:pt x="9564625" y="4565142"/>
                    <a:pt x="9466326" y="4663440"/>
                    <a:pt x="9345168" y="4663440"/>
                  </a:cubicBezTo>
                  <a:lnTo>
                    <a:pt x="219456" y="4663440"/>
                  </a:lnTo>
                  <a:cubicBezTo>
                    <a:pt x="98298" y="4663440"/>
                    <a:pt x="0" y="4565142"/>
                    <a:pt x="0" y="44439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629900" y="2811780"/>
            <a:ext cx="822960" cy="822960"/>
            <a:chOff x="0" y="0"/>
            <a:chExt cx="109728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843870" y="3025750"/>
            <a:ext cx="395021" cy="395021"/>
            <a:chOff x="0" y="0"/>
            <a:chExt cx="526694" cy="526694"/>
          </a:xfrm>
        </p:grpSpPr>
        <p:sp>
          <p:nvSpPr>
            <p:cNvPr name="Freeform 42" id="42" descr="icon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521440" y="2880360"/>
            <a:ext cx="573786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ลายมือปากกาที่เส้นจางมากยังแม่นยำต่ำกว่า (แม้ Super-Ensemble จะช่วยดึงขึ้นมาได้ถึง 83.75% หรือ 335/400 ช่อง ใน test2.jpg แต่ยังต่ำกว่าแผ่นปากกาทั่วไปที่ทำได้ &gt;95% )</a:t>
            </a:r>
          </a:p>
          <a:p>
            <a:pPr algn="l">
              <a:lnSpc>
                <a:spcPts val="2700"/>
              </a:lnSpc>
            </a:pP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การรวมพลัง (Super-Ensemble) แบบถ่วงน้ำหนักคงที่ (Fixed Weight 30:70) อาจถูกโมเดลคู่ดึงคะแนนลงเล็กน้อยในบางแผ่น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0" y="6309360"/>
            <a:ext cx="6858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6FA8"/>
                </a:solidFill>
                <a:latin typeface="Sarabun Bold"/>
                <a:ea typeface="Sarabun Bold"/>
                <a:cs typeface="Sarabun Bold"/>
                <a:sym typeface="Sarabun Bold"/>
              </a:rPr>
              <a:t>แนวทางพัฒนาต่อ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287000" y="6995160"/>
            <a:ext cx="7173468" cy="2468880"/>
            <a:chOff x="0" y="0"/>
            <a:chExt cx="9564624" cy="3291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64625" cy="3291840"/>
            </a:xfrm>
            <a:custGeom>
              <a:avLst/>
              <a:gdLst/>
              <a:ahLst/>
              <a:cxnLst/>
              <a:rect r="r" b="b" t="t" l="l"/>
              <a:pathLst>
                <a:path h="3291840" w="95646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345168" y="0"/>
                  </a:lnTo>
                  <a:cubicBezTo>
                    <a:pt x="9466326" y="0"/>
                    <a:pt x="9564625" y="98298"/>
                    <a:pt x="9564625" y="219456"/>
                  </a:cubicBezTo>
                  <a:lnTo>
                    <a:pt x="9564625" y="3072384"/>
                  </a:lnTo>
                  <a:cubicBezTo>
                    <a:pt x="9564625" y="3193542"/>
                    <a:pt x="9466326" y="3291840"/>
                    <a:pt x="9345168" y="3291840"/>
                  </a:cubicBezTo>
                  <a:lnTo>
                    <a:pt x="219456" y="3291840"/>
                  </a:lnTo>
                  <a:cubicBezTo>
                    <a:pt x="98298" y="3291840"/>
                    <a:pt x="0" y="3193542"/>
                    <a:pt x="0" y="30723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29900" y="7269480"/>
            <a:ext cx="822960" cy="822960"/>
            <a:chOff x="0" y="0"/>
            <a:chExt cx="10972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F6FA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843870" y="7483450"/>
            <a:ext cx="395021" cy="395021"/>
            <a:chOff x="0" y="0"/>
            <a:chExt cx="526694" cy="526694"/>
          </a:xfrm>
        </p:grpSpPr>
        <p:sp>
          <p:nvSpPr>
            <p:cNvPr name="Freeform 50" id="50" descr="icon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" b="-4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1727180" y="7269480"/>
            <a:ext cx="54864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พัฒนาระบบ Dynamic / Confidence-based Model Routing</a:t>
            </a:r>
          </a:p>
          <a:p>
            <a:pPr algn="l" marL="485775" indent="-242888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0243E"/>
                </a:solidFill>
                <a:latin typeface="Sarabun"/>
                <a:ea typeface="Sarabun"/>
                <a:cs typeface="Sarabun"/>
                <a:sym typeface="Sarabun"/>
              </a:rPr>
              <a:t>ขยาย Data Augmentation สำหรับปากกาจาง และ แสงเงาน้อย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5B6B7B"/>
                </a:solidFill>
                <a:latin typeface="Sarabun"/>
                <a:ea typeface="Sarabun"/>
                <a:cs typeface="Sarabun"/>
                <a:sym typeface="Sarabu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"/>
            <a:ext cx="16596360" cy="1097280"/>
            <a:chOff x="0" y="0"/>
            <a:chExt cx="2212848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21284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สรุปและงานวิจัยที่เกี่ยวข้อง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920240"/>
            <a:ext cx="82296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CC8E4"/>
                </a:solidFill>
                <a:latin typeface="Sarabun Bold"/>
                <a:ea typeface="Sarabun Bold"/>
                <a:cs typeface="Sarabun Bold"/>
                <a:sym typeface="Sarabun Bold"/>
              </a:rPr>
              <a:t>สรุปผลโครงการ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2606040"/>
            <a:ext cx="8503920" cy="1988820"/>
            <a:chOff x="0" y="0"/>
            <a:chExt cx="11338560" cy="2651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38561" cy="2651760"/>
            </a:xfrm>
            <a:custGeom>
              <a:avLst/>
              <a:gdLst/>
              <a:ahLst/>
              <a:cxnLst/>
              <a:rect r="r" b="b" t="t" l="l"/>
              <a:pathLst>
                <a:path h="265176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2432304"/>
                  </a:lnTo>
                  <a:cubicBezTo>
                    <a:pt x="11338561" y="2553462"/>
                    <a:pt x="11240262" y="2651760"/>
                    <a:pt x="1111910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4440" y="2811780"/>
            <a:ext cx="76809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ครบทั้งกระบวนการ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4440" y="3367278"/>
            <a:ext cx="78867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ตั้งแต่รับภาพถ่ายมุมกว้างจากสมาร์ตโฟน, ปรับระนาบอัตโนมัติ (Universal Table Refinement), จำแนกตัวอักษรด้วย Dual-Stream (MLP + CNN), จนถึงส่งออก JSON และ Excel Dashboard สรุปผลพร้อมภาพตีกรอบ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4869180"/>
            <a:ext cx="8503920" cy="1988820"/>
            <a:chOff x="0" y="0"/>
            <a:chExt cx="11338560" cy="2651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38561" cy="2651760"/>
            </a:xfrm>
            <a:custGeom>
              <a:avLst/>
              <a:gdLst/>
              <a:ahLst/>
              <a:cxnLst/>
              <a:rect r="r" b="b" t="t" l="l"/>
              <a:pathLst>
                <a:path h="265176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2432304"/>
                  </a:lnTo>
                  <a:cubicBezTo>
                    <a:pt x="11338561" y="2553462"/>
                    <a:pt x="11240262" y="2651760"/>
                    <a:pt x="1111910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" y="5074920"/>
            <a:ext cx="76809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ความแม่นยำรวม 95.12%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440" y="5760720"/>
            <a:ext cx="768096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CV ร่วมกับ MLP/CNN (Super-Ensemble) อ่านถูก 4,566 จาก 4,800 ช่อง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7132320"/>
            <a:ext cx="8503920" cy="1988820"/>
            <a:chOff x="0" y="0"/>
            <a:chExt cx="11338560" cy="2651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38561" cy="2651760"/>
            </a:xfrm>
            <a:custGeom>
              <a:avLst/>
              <a:gdLst/>
              <a:ahLst/>
              <a:cxnLst/>
              <a:rect r="r" b="b" t="t" l="l"/>
              <a:pathLst>
                <a:path h="265176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2432304"/>
                  </a:lnTo>
                  <a:cubicBezTo>
                    <a:pt x="11338561" y="2553462"/>
                    <a:pt x="11240262" y="2651760"/>
                    <a:pt x="11119104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1B3A5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34440" y="7338060"/>
            <a:ext cx="76809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สิ่งที่ต้อง</a:t>
            </a:r>
            <a:r>
              <a:rPr lang="en-US" sz="3000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พัฒนาต่อ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440" y="8018526"/>
            <a:ext cx="768096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พัฒนา Dynamic Routing: สลับเลือกโมเดลอัตโนมัติตามระดับความมั่นใจรายช่อง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75520" y="1920240"/>
            <a:ext cx="7543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CC8E4"/>
                </a:solidFill>
                <a:latin typeface="Sarabun Bold"/>
                <a:ea typeface="Sarabun Bold"/>
                <a:cs typeface="Sarabun Bold"/>
                <a:sym typeface="Sarabun Bold"/>
              </a:rPr>
              <a:t>งานวิจัยที่เกี่ยวข้อง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75520" y="2606040"/>
            <a:ext cx="7584948" cy="1508760"/>
            <a:chOff x="0" y="0"/>
            <a:chExt cx="10113264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13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11326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93808" y="0"/>
                  </a:lnTo>
                  <a:cubicBezTo>
                    <a:pt x="10014965" y="0"/>
                    <a:pt x="10113264" y="98298"/>
                    <a:pt x="10113264" y="219456"/>
                  </a:cubicBezTo>
                  <a:lnTo>
                    <a:pt x="10113264" y="1792224"/>
                  </a:lnTo>
                  <a:cubicBezTo>
                    <a:pt x="10113264" y="1913382"/>
                    <a:pt x="10014965" y="2011680"/>
                    <a:pt x="9893808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149840" y="2948940"/>
            <a:ext cx="1234440" cy="822960"/>
            <a:chOff x="0" y="0"/>
            <a:chExt cx="164592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63040" y="0"/>
                  </a:lnTo>
                  <a:cubicBezTo>
                    <a:pt x="1564005" y="0"/>
                    <a:pt x="1645920" y="81915"/>
                    <a:pt x="1645920" y="182880"/>
                  </a:cubicBezTo>
                  <a:lnTo>
                    <a:pt x="1645920" y="914400"/>
                  </a:lnTo>
                  <a:cubicBezTo>
                    <a:pt x="1645920" y="1015365"/>
                    <a:pt x="1564005" y="1097280"/>
                    <a:pt x="146304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49840" y="2948940"/>
            <a:ext cx="1234440" cy="822960"/>
            <a:chOff x="0" y="0"/>
            <a:chExt cx="164592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6459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2017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75520" y="4279392"/>
            <a:ext cx="7584948" cy="1508760"/>
            <a:chOff x="0" y="0"/>
            <a:chExt cx="10113264" cy="2011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13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11326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93808" y="0"/>
                  </a:lnTo>
                  <a:cubicBezTo>
                    <a:pt x="10014965" y="0"/>
                    <a:pt x="10113264" y="98298"/>
                    <a:pt x="10113264" y="219456"/>
                  </a:cubicBezTo>
                  <a:lnTo>
                    <a:pt x="10113264" y="1792224"/>
                  </a:lnTo>
                  <a:cubicBezTo>
                    <a:pt x="10113264" y="1913382"/>
                    <a:pt x="10014965" y="2011680"/>
                    <a:pt x="9893808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149840" y="4622292"/>
            <a:ext cx="1234440" cy="822960"/>
            <a:chOff x="0" y="0"/>
            <a:chExt cx="164592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63040" y="0"/>
                  </a:lnTo>
                  <a:cubicBezTo>
                    <a:pt x="1564005" y="0"/>
                    <a:pt x="1645920" y="81915"/>
                    <a:pt x="1645920" y="182880"/>
                  </a:cubicBezTo>
                  <a:lnTo>
                    <a:pt x="1645920" y="914400"/>
                  </a:lnTo>
                  <a:cubicBezTo>
                    <a:pt x="1645920" y="1015365"/>
                    <a:pt x="1564005" y="1097280"/>
                    <a:pt x="146304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149840" y="4622292"/>
            <a:ext cx="1234440" cy="822960"/>
            <a:chOff x="0" y="0"/>
            <a:chExt cx="164592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6459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2017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75520" y="5952744"/>
            <a:ext cx="7584948" cy="1508760"/>
            <a:chOff x="0" y="0"/>
            <a:chExt cx="10113264" cy="2011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13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11326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93808" y="0"/>
                  </a:lnTo>
                  <a:cubicBezTo>
                    <a:pt x="10014965" y="0"/>
                    <a:pt x="10113264" y="98298"/>
                    <a:pt x="10113264" y="219456"/>
                  </a:cubicBezTo>
                  <a:lnTo>
                    <a:pt x="10113264" y="1792224"/>
                  </a:lnTo>
                  <a:cubicBezTo>
                    <a:pt x="10113264" y="1913382"/>
                    <a:pt x="10014965" y="2011680"/>
                    <a:pt x="9893808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149840" y="6295644"/>
            <a:ext cx="1234440" cy="822960"/>
            <a:chOff x="0" y="0"/>
            <a:chExt cx="16459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63040" y="0"/>
                  </a:lnTo>
                  <a:cubicBezTo>
                    <a:pt x="1564005" y="0"/>
                    <a:pt x="1645920" y="81915"/>
                    <a:pt x="1645920" y="182880"/>
                  </a:cubicBezTo>
                  <a:lnTo>
                    <a:pt x="1645920" y="914400"/>
                  </a:lnTo>
                  <a:cubicBezTo>
                    <a:pt x="1645920" y="1015365"/>
                    <a:pt x="1564005" y="1097280"/>
                    <a:pt x="146304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149840" y="6309360"/>
            <a:ext cx="1234440" cy="822960"/>
            <a:chOff x="0" y="0"/>
            <a:chExt cx="164592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6459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2020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75520" y="7626096"/>
            <a:ext cx="7584948" cy="1508760"/>
            <a:chOff x="0" y="0"/>
            <a:chExt cx="10113264" cy="2011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13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11326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93808" y="0"/>
                  </a:lnTo>
                  <a:cubicBezTo>
                    <a:pt x="10014965" y="0"/>
                    <a:pt x="10113264" y="98298"/>
                    <a:pt x="10113264" y="219456"/>
                  </a:cubicBezTo>
                  <a:lnTo>
                    <a:pt x="10113264" y="1792224"/>
                  </a:lnTo>
                  <a:cubicBezTo>
                    <a:pt x="10113264" y="1913382"/>
                    <a:pt x="10014965" y="2011680"/>
                    <a:pt x="9893808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149840" y="7968996"/>
            <a:ext cx="1234440" cy="822960"/>
            <a:chOff x="0" y="0"/>
            <a:chExt cx="164592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63040" y="0"/>
                  </a:lnTo>
                  <a:cubicBezTo>
                    <a:pt x="1564005" y="0"/>
                    <a:pt x="1645920" y="81915"/>
                    <a:pt x="1645920" y="182880"/>
                  </a:cubicBezTo>
                  <a:lnTo>
                    <a:pt x="1645920" y="914400"/>
                  </a:lnTo>
                  <a:cubicBezTo>
                    <a:pt x="1645920" y="1015365"/>
                    <a:pt x="1564005" y="1097280"/>
                    <a:pt x="146304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149840" y="7968996"/>
            <a:ext cx="1234440" cy="822960"/>
            <a:chOff x="0" y="0"/>
            <a:chExt cx="164592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64592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2021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35740" y="6055614"/>
            <a:ext cx="4969979" cy="1303020"/>
            <a:chOff x="0" y="0"/>
            <a:chExt cx="6626638" cy="1737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26638" cy="1737360"/>
            </a:xfrm>
            <a:custGeom>
              <a:avLst/>
              <a:gdLst/>
              <a:ahLst/>
              <a:cxnLst/>
              <a:rect r="r" b="b" t="t" l="l"/>
              <a:pathLst>
                <a:path h="1737360" w="6626638">
                  <a:moveTo>
                    <a:pt x="0" y="0"/>
                  </a:moveTo>
                  <a:lnTo>
                    <a:pt x="6626638" y="0"/>
                  </a:lnTo>
                  <a:lnTo>
                    <a:pt x="662663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93" r="-13150" b="-3409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626638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4" tooltip="https://www.mdpi.com/2076-3417/9/15/3169"/>
                </a:rPr>
                <a:t>Zhong et al. (AAAI 2020)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Random Erasing Data Augmentation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6962120" y="9725025"/>
            <a:ext cx="5029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C8E4"/>
                </a:solidFill>
                <a:latin typeface="Sarabun"/>
                <a:ea typeface="Sarabun"/>
                <a:cs typeface="Sarabun"/>
                <a:sym typeface="Sarabun"/>
              </a:rPr>
              <a:t>15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1590020" y="2798297"/>
            <a:ext cx="5623560" cy="1124245"/>
            <a:chOff x="0" y="0"/>
            <a:chExt cx="7498080" cy="149899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498080" cy="1498994"/>
            </a:xfrm>
            <a:custGeom>
              <a:avLst/>
              <a:gdLst/>
              <a:ahLst/>
              <a:cxnLst/>
              <a:rect r="r" b="b" t="t" l="l"/>
              <a:pathLst>
                <a:path h="149899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98994"/>
                  </a:lnTo>
                  <a:lnTo>
                    <a:pt x="0" y="14989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14" r="0" b="-554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7498080" cy="1508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5" tooltip="https://arxiv.org/abs/1702.05373"/>
                </a:rPr>
                <a:t>Cohen et al. (IEEE IJCNN 2017)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EMNIST:</a:t>
              </a: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 Extending MNIST to Handwritten Letters (IEEE IJCNN 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635740" y="4607242"/>
            <a:ext cx="4771749" cy="853059"/>
            <a:chOff x="0" y="0"/>
            <a:chExt cx="6362333" cy="11374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62333" cy="1137412"/>
            </a:xfrm>
            <a:custGeom>
              <a:avLst/>
              <a:gdLst/>
              <a:ahLst/>
              <a:cxnLst/>
              <a:rect r="r" b="b" t="t" l="l"/>
              <a:pathLst>
                <a:path h="1137412" w="6362333">
                  <a:moveTo>
                    <a:pt x="0" y="0"/>
                  </a:moveTo>
                  <a:lnTo>
                    <a:pt x="6362333" y="0"/>
                  </a:lnTo>
                  <a:lnTo>
                    <a:pt x="6362333" y="1137412"/>
                  </a:lnTo>
                  <a:lnTo>
                    <a:pt x="0" y="11374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6" r="-17851" b="-10482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362333" cy="1146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6" tooltip="https://arxiv.org/abs/1708.02002"/>
                </a:rPr>
                <a:t>Lin et al. (IEEE ICCV 2017)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Foca</a:t>
              </a: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l Loss for Dense Object Detection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635740" y="7670716"/>
            <a:ext cx="5623560" cy="1419520"/>
            <a:chOff x="0" y="0"/>
            <a:chExt cx="7498080" cy="18926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98080" cy="1892694"/>
            </a:xfrm>
            <a:custGeom>
              <a:avLst/>
              <a:gdLst/>
              <a:ahLst/>
              <a:cxnLst/>
              <a:rect r="r" b="b" t="t" l="l"/>
              <a:pathLst>
                <a:path h="189269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892694"/>
                  </a:lnTo>
                  <a:lnTo>
                    <a:pt x="0" y="1892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95" r="0" b="-2308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7498080" cy="1902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7" tooltip="https://ieeexplore.ieee.org/document/9591132"/>
                </a:rPr>
                <a:t>Oqaibi et al.</a:t>
              </a:r>
              <a:r>
                <a:rPr lang="en-US" sz="2100" u="sng">
                  <a:solidFill>
                    <a:srgbClr val="1F6FA8"/>
                  </a:solidFill>
                  <a:latin typeface="Sarabun"/>
                  <a:ea typeface="Sarabun"/>
                  <a:cs typeface="Sarabun"/>
                  <a:sym typeface="Sarabun"/>
                  <a:hlinkClick r:id="rId8" tooltip="https://ieeexplore.ieee.org/document/9591132"/>
                </a:rPr>
                <a:t> </a:t>
              </a:r>
              <a:r>
                <a:rPr lang="en-US" b="true" sz="2100" u="sng">
                  <a:solidFill>
                    <a:srgbClr val="1F6FA8"/>
                  </a:solidFill>
                  <a:latin typeface="Sarabun Bold"/>
                  <a:ea typeface="Sarabun Bold"/>
                  <a:cs typeface="Sarabun Bold"/>
                  <a:sym typeface="Sarabun Bold"/>
                  <a:hlinkClick r:id="rId9" tooltip="https://ieeexplore.ieee.org/document/9591132"/>
                </a:rPr>
                <a:t>(IEEE ICECCME, 2021)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Handprint</a:t>
              </a: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ed Character and Onl</a:t>
              </a:r>
              <a:r>
                <a:rPr lang="en-US" sz="1950">
                  <a:solidFill>
                    <a:srgbClr val="10243E"/>
                  </a:solidFill>
                  <a:latin typeface="Sarabun"/>
                  <a:ea typeface="Sarabun"/>
                  <a:cs typeface="Sarabun"/>
                  <a:sym typeface="Sarabun"/>
                </a:rPr>
                <a:t>ine Signature Recognition Using Residual Convolutional Network: A Comparative Study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DAHZAwApG3o</dc:identifier>
  <dcterms:modified xsi:type="dcterms:W3CDTF">2011-08-01T06:04:30Z</dcterms:modified>
  <cp:revision>1</cp:revision>
  <dc:title>ระบบตรวจกระดาษคำตอบ-CV-ML.pptx</dc:title>
</cp:coreProperties>
</file>